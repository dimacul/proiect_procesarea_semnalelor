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89" r:id="rId9"/>
    <p:sldId id="273" r:id="rId10"/>
    <p:sldId id="274" r:id="rId11"/>
    <p:sldId id="275" r:id="rId12"/>
    <p:sldId id="276" r:id="rId13"/>
    <p:sldId id="277" r:id="rId14"/>
    <p:sldId id="281" r:id="rId15"/>
    <p:sldId id="278" r:id="rId16"/>
    <p:sldId id="279" r:id="rId17"/>
    <p:sldId id="280" r:id="rId18"/>
    <p:sldId id="282" r:id="rId19"/>
    <p:sldId id="283" r:id="rId20"/>
    <p:sldId id="284" r:id="rId21"/>
    <p:sldId id="285" r:id="rId22"/>
    <p:sldId id="287" r:id="rId23"/>
    <p:sldId id="286" r:id="rId24"/>
    <p:sldId id="28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98" d="100"/>
          <a:sy n="98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89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2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81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1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5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4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7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0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5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93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46B18C0-4F01-4AC2-B699-BCBEB906CDCC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6DC6963-A23A-4222-9AB0-5D3394A4690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8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8F7F-4AD7-6D95-3860-219F7E540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692" y="549030"/>
            <a:ext cx="9144000" cy="2102339"/>
          </a:xfrm>
        </p:spPr>
        <p:txBody>
          <a:bodyPr>
            <a:normAutofit/>
          </a:bodyPr>
          <a:lstStyle/>
          <a:p>
            <a:r>
              <a:rPr lang="en-US" sz="4800" dirty="0" err="1"/>
              <a:t>Eficientizarea</a:t>
            </a:r>
            <a:r>
              <a:rPr lang="en-US" sz="4800" dirty="0"/>
              <a:t> </a:t>
            </a:r>
            <a:r>
              <a:rPr lang="ro-RO" sz="4800" dirty="0"/>
              <a:t>s</a:t>
            </a:r>
            <a:r>
              <a:rPr lang="en-US" sz="4800" dirty="0"/>
              <a:t>toc</a:t>
            </a:r>
            <a:r>
              <a:rPr lang="ro-RO" sz="4800" dirty="0"/>
              <a:t>ă</a:t>
            </a:r>
            <a:r>
              <a:rPr lang="en-US" sz="4800" dirty="0" err="1"/>
              <a:t>rii</a:t>
            </a:r>
            <a:r>
              <a:rPr lang="en-US" sz="4800" dirty="0"/>
              <a:t> </a:t>
            </a:r>
            <a:r>
              <a:rPr lang="ro-RO" sz="4800" dirty="0"/>
              <a:t>seriilor de timp </a:t>
            </a:r>
            <a:r>
              <a:rPr lang="en-US" sz="4800" dirty="0" err="1"/>
              <a:t>utiliz</a:t>
            </a:r>
            <a:r>
              <a:rPr lang="ro-RO" sz="4800" dirty="0"/>
              <a:t>â</a:t>
            </a:r>
            <a:r>
              <a:rPr lang="en-US" sz="4800" dirty="0" err="1"/>
              <a:t>nd</a:t>
            </a:r>
            <a:r>
              <a:rPr lang="en-US" sz="4800" dirty="0"/>
              <a:t> </a:t>
            </a:r>
            <a:r>
              <a:rPr lang="ro-RO" sz="4800" dirty="0"/>
              <a:t>a</a:t>
            </a:r>
            <a:r>
              <a:rPr lang="en-US" sz="4800" dirty="0" err="1"/>
              <a:t>lgoritmul</a:t>
            </a:r>
            <a:r>
              <a:rPr lang="en-US" sz="4800" dirty="0"/>
              <a:t> Gorilla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A84E1-2AE2-04E7-82AA-24050CB56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69846"/>
            <a:ext cx="9144000" cy="2287954"/>
          </a:xfrm>
        </p:spPr>
        <p:txBody>
          <a:bodyPr/>
          <a:lstStyle/>
          <a:p>
            <a:r>
              <a:rPr lang="en-US" dirty="0" err="1"/>
              <a:t>Implementarea</a:t>
            </a:r>
            <a:r>
              <a:rPr lang="en-US" dirty="0"/>
              <a:t> Standard vs. </a:t>
            </a:r>
            <a:r>
              <a:rPr lang="en-US" dirty="0" err="1"/>
              <a:t>Optimizarea</a:t>
            </a:r>
            <a:r>
              <a:rPr lang="en-US" dirty="0"/>
              <a:t> Proactiv</a:t>
            </a:r>
            <a:r>
              <a:rPr lang="ro-RO" dirty="0"/>
              <a:t>ă</a:t>
            </a:r>
            <a:r>
              <a:rPr lang="en-US" dirty="0"/>
              <a:t> a </a:t>
            </a:r>
            <a:r>
              <a:rPr lang="en-US" dirty="0" err="1"/>
              <a:t>Ferestrei</a:t>
            </a:r>
            <a:r>
              <a:rPr lang="en-US" dirty="0"/>
              <a:t> XOR</a:t>
            </a:r>
            <a:r>
              <a:rPr lang="ro-RO" dirty="0"/>
              <a:t> pentru </a:t>
            </a:r>
            <a:r>
              <a:rPr lang="ro-RO" dirty="0" err="1"/>
              <a:t>values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Muscalu</a:t>
            </a:r>
            <a:r>
              <a:rPr lang="en-US" dirty="0"/>
              <a:t> David</a:t>
            </a:r>
          </a:p>
          <a:p>
            <a:r>
              <a:rPr lang="en-US" dirty="0"/>
              <a:t>Dima Cristian</a:t>
            </a:r>
          </a:p>
        </p:txBody>
      </p:sp>
    </p:spTree>
    <p:extLst>
      <p:ext uri="{BB962C8B-B14F-4D97-AF65-F5344CB8AC3E}">
        <p14:creationId xmlns:p14="http://schemas.microsoft.com/office/powerpoint/2010/main" val="366176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40C8-8700-B3D3-733D-A114F069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F94ABF2B-58B9-6051-6BD6-FD5D15518FDE}"/>
              </a:ext>
            </a:extLst>
          </p:cNvPr>
          <p:cNvSpPr txBox="1"/>
          <p:nvPr/>
        </p:nvSpPr>
        <p:spPr>
          <a:xfrm>
            <a:off x="1097279" y="1910442"/>
            <a:ext cx="8852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Problema:</a:t>
            </a: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Sistemele de monitorizare </a:t>
            </a:r>
            <a:r>
              <a:rPr lang="en-US" dirty="0"/>
              <a:t>-&gt; </a:t>
            </a:r>
            <a:r>
              <a:rPr lang="ro-RO" dirty="0"/>
              <a:t>volume masive de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Facebook: 12 milioane </a:t>
            </a:r>
            <a:r>
              <a:rPr lang="en-US" dirty="0"/>
              <a:t>datapoints</a:t>
            </a:r>
            <a:r>
              <a:rPr lang="ro-RO" dirty="0"/>
              <a:t>/s</a:t>
            </a:r>
            <a:r>
              <a:rPr lang="en-US" dirty="0"/>
              <a:t> -&gt;</a:t>
            </a:r>
            <a:r>
              <a:rPr lang="ro-RO" dirty="0"/>
              <a:t> 16 TB </a:t>
            </a:r>
            <a:r>
              <a:rPr lang="ro-RO" b="1" dirty="0"/>
              <a:t>RAM</a:t>
            </a:r>
            <a:r>
              <a:rPr lang="ro-RO" dirty="0"/>
              <a:t> </a:t>
            </a:r>
            <a:r>
              <a:rPr lang="ro-RO" dirty="0" err="1"/>
              <a:t>zilni</a:t>
            </a:r>
            <a:r>
              <a:rPr lang="en-US" dirty="0"/>
              <a:t>c</a:t>
            </a: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Stocare naivă: 16 </a:t>
            </a:r>
            <a:r>
              <a:rPr lang="ro-RO" dirty="0" err="1"/>
              <a:t>bytes</a:t>
            </a:r>
            <a:r>
              <a:rPr lang="ro-RO" dirty="0"/>
              <a:t>/</a:t>
            </a:r>
            <a:r>
              <a:rPr lang="en-US" dirty="0"/>
              <a:t>datapoint</a:t>
            </a:r>
            <a:r>
              <a:rPr lang="ro-RO" dirty="0"/>
              <a:t> (8 </a:t>
            </a:r>
            <a:r>
              <a:rPr lang="ro-RO" dirty="0" err="1"/>
              <a:t>timestamp</a:t>
            </a:r>
            <a:r>
              <a:rPr lang="ro-RO" dirty="0"/>
              <a:t> + 8 valoare)</a:t>
            </a:r>
          </a:p>
          <a:p>
            <a:endParaRPr lang="ro-RO" dirty="0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5D1F415E-B99A-D040-B28B-EB93E8D6B58F}"/>
              </a:ext>
            </a:extLst>
          </p:cNvPr>
          <p:cNvSpPr txBox="1"/>
          <p:nvPr/>
        </p:nvSpPr>
        <p:spPr>
          <a:xfrm>
            <a:off x="1097279" y="3164861"/>
            <a:ext cx="5627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Soluția propusă:</a:t>
            </a: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 err="1"/>
              <a:t>Gorilla</a:t>
            </a:r>
            <a:r>
              <a:rPr lang="ro-RO" dirty="0"/>
              <a:t> (Facebook, 2015)</a:t>
            </a:r>
          </a:p>
          <a:p>
            <a:endParaRPr lang="ro-RO" dirty="0"/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F071521E-70FF-6982-FF2A-27AD63142C69}"/>
              </a:ext>
            </a:extLst>
          </p:cNvPr>
          <p:cNvSpPr txBox="1"/>
          <p:nvPr/>
        </p:nvSpPr>
        <p:spPr>
          <a:xfrm>
            <a:off x="1097279" y="4013093"/>
            <a:ext cx="5355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Contribuție originală: 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Optimizarea condiției de refolosire a ferestrei XOR</a:t>
            </a:r>
          </a:p>
          <a:p>
            <a:endParaRPr lang="ro-RO" dirty="0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3E554127-5090-2162-6622-B5F5DFAF391D}"/>
              </a:ext>
            </a:extLst>
          </p:cNvPr>
          <p:cNvSpPr txBox="1"/>
          <p:nvPr/>
        </p:nvSpPr>
        <p:spPr>
          <a:xfrm>
            <a:off x="1097279" y="4713514"/>
            <a:ext cx="10276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o-RO" b="1" dirty="0"/>
              <a:t>Rezultate: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Compresie </a:t>
            </a:r>
            <a:r>
              <a:rPr lang="ro-RO" b="1" dirty="0">
                <a:solidFill>
                  <a:srgbClr val="C00000"/>
                </a:solidFill>
              </a:rPr>
              <a:t>55-85%</a:t>
            </a:r>
            <a:r>
              <a:rPr lang="ro-RO" dirty="0"/>
              <a:t> față de stocare naivă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Îmbunătățire suplimentară </a:t>
            </a:r>
            <a:r>
              <a:rPr lang="ro-RO" b="1" dirty="0">
                <a:solidFill>
                  <a:srgbClr val="C00000"/>
                </a:solidFill>
              </a:rPr>
              <a:t>0.68%-7.14% </a:t>
            </a:r>
            <a:r>
              <a:rPr lang="ro-RO" dirty="0"/>
              <a:t>cu optimizarea noastră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Compresie </a:t>
            </a:r>
            <a:r>
              <a:rPr lang="ro-RO" b="1" dirty="0" err="1">
                <a:solidFill>
                  <a:srgbClr val="C00000"/>
                </a:solidFill>
              </a:rPr>
              <a:t>lossless</a:t>
            </a:r>
            <a:r>
              <a:rPr lang="ro-RO" dirty="0"/>
              <a:t> (bit-perfect)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2773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83D7-E3E5-5C77-433A-C42432BA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3292-F127-701D-9C50-E4E9F9DB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Introducere</a:t>
            </a:r>
            <a:endParaRPr lang="en-US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DA705FE9-6F91-F40F-C672-CFDE8582725B}"/>
              </a:ext>
            </a:extLst>
          </p:cNvPr>
          <p:cNvSpPr txBox="1"/>
          <p:nvPr/>
        </p:nvSpPr>
        <p:spPr>
          <a:xfrm>
            <a:off x="8904910" y="2755536"/>
            <a:ext cx="2433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 err="1"/>
              <a:t>Beringei</a:t>
            </a:r>
            <a:r>
              <a:rPr lang="en-US" dirty="0"/>
              <a:t> (&gt;2017)</a:t>
            </a:r>
            <a:endParaRPr lang="ro-RO" dirty="0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AC7794DB-0262-A6BF-5D62-41E887142033}"/>
              </a:ext>
            </a:extLst>
          </p:cNvPr>
          <p:cNvSpPr txBox="1"/>
          <p:nvPr/>
        </p:nvSpPr>
        <p:spPr>
          <a:xfrm>
            <a:off x="1097280" y="2155372"/>
            <a:ext cx="6999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Motivație</a:t>
            </a:r>
            <a:r>
              <a:rPr lang="en-US" b="1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Sistem</a:t>
            </a:r>
            <a:r>
              <a:rPr lang="ro-RO" dirty="0"/>
              <a:t> de </a:t>
            </a:r>
            <a:r>
              <a:rPr lang="ro-RO" b="1" dirty="0">
                <a:solidFill>
                  <a:srgbClr val="C00000"/>
                </a:solidFill>
              </a:rPr>
              <a:t>stocare</a:t>
            </a:r>
            <a:r>
              <a:rPr lang="ro-RO" dirty="0"/>
              <a:t> + </a:t>
            </a:r>
            <a:r>
              <a:rPr lang="ro-RO" b="1" dirty="0">
                <a:solidFill>
                  <a:srgbClr val="C00000"/>
                </a:solidFill>
              </a:rPr>
              <a:t>accesare</a:t>
            </a:r>
            <a:r>
              <a:rPr lang="ro-RO" dirty="0"/>
              <a:t> eficientă a valorilor recente (în 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 err="1"/>
              <a:t>Gorilla</a:t>
            </a:r>
            <a:r>
              <a:rPr lang="ro-RO" dirty="0"/>
              <a:t> = </a:t>
            </a:r>
            <a:r>
              <a:rPr lang="en-US" dirty="0"/>
              <a:t> </a:t>
            </a:r>
            <a:r>
              <a:rPr lang="en-US" b="1" dirty="0"/>
              <a:t>cache write-through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fața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TSDB persistent</a:t>
            </a: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dirty="0"/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CCC7EA97-9C4E-4208-033E-CA7B47919341}"/>
              </a:ext>
            </a:extLst>
          </p:cNvPr>
          <p:cNvSpPr txBox="1"/>
          <p:nvPr/>
        </p:nvSpPr>
        <p:spPr>
          <a:xfrm>
            <a:off x="1436915" y="3355701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Date noi → </a:t>
            </a:r>
            <a:r>
              <a:rPr lang="it-IT" dirty="0">
                <a:solidFill>
                  <a:srgbClr val="C00000"/>
                </a:solidFill>
              </a:rPr>
              <a:t>[Gorilla (RAM)] </a:t>
            </a:r>
            <a:r>
              <a:rPr lang="it-IT" dirty="0"/>
              <a:t>→ [HBase (Disc)]</a:t>
            </a:r>
          </a:p>
          <a:p>
            <a:r>
              <a:rPr lang="it-IT" dirty="0"/>
              <a:t>            </a:t>
            </a:r>
            <a:r>
              <a:rPr lang="ro-RO" dirty="0"/>
              <a:t>		   </a:t>
            </a:r>
            <a:r>
              <a:rPr lang="it-IT" dirty="0"/>
              <a:t>  ↑</a:t>
            </a:r>
          </a:p>
          <a:p>
            <a:r>
              <a:rPr lang="it-IT" dirty="0"/>
              <a:t>        </a:t>
            </a:r>
            <a:r>
              <a:rPr lang="ro-RO" dirty="0"/>
              <a:t>		  </a:t>
            </a:r>
            <a:r>
              <a:rPr lang="it-IT" dirty="0"/>
              <a:t>Interogări rapide</a:t>
            </a:r>
          </a:p>
          <a:p>
            <a:r>
              <a:rPr lang="it-IT" dirty="0"/>
              <a:t>        </a:t>
            </a:r>
            <a:r>
              <a:rPr lang="ro-RO" dirty="0"/>
              <a:t>		  </a:t>
            </a:r>
            <a:r>
              <a:rPr lang="it-IT" dirty="0"/>
              <a:t>(ultimele 26 ore)</a:t>
            </a:r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4AEB4407-F22B-E4BF-4655-1E762E394A4B}"/>
              </a:ext>
            </a:extLst>
          </p:cNvPr>
          <p:cNvSpPr txBox="1"/>
          <p:nvPr/>
        </p:nvSpPr>
        <p:spPr>
          <a:xfrm>
            <a:off x="1097280" y="4844143"/>
            <a:ext cx="5823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De ce este interesant?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 err="1"/>
              <a:t>Particularițățile</a:t>
            </a:r>
            <a:r>
              <a:rPr lang="ro-RO" dirty="0"/>
              <a:t> datelor ce trebuie stocate</a:t>
            </a:r>
          </a:p>
        </p:txBody>
      </p:sp>
      <p:cxnSp>
        <p:nvCxnSpPr>
          <p:cNvPr id="14" name="Conector drept cu săgeată 13">
            <a:extLst>
              <a:ext uri="{FF2B5EF4-FFF2-40B4-BE49-F238E27FC236}">
                <a16:creationId xmlns:a16="http://schemas.microsoft.com/office/drawing/2014/main" id="{7F2C593F-47A1-932B-1D29-9ED49839C6EB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568043" y="4955690"/>
            <a:ext cx="999308" cy="318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rept cu săgeată 14">
            <a:extLst>
              <a:ext uri="{FF2B5EF4-FFF2-40B4-BE49-F238E27FC236}">
                <a16:creationId xmlns:a16="http://schemas.microsoft.com/office/drawing/2014/main" id="{40D3E9A7-0066-15E3-4EC5-520FE372F85B}"/>
              </a:ext>
            </a:extLst>
          </p:cNvPr>
          <p:cNvCxnSpPr>
            <a:cxnSpLocks/>
          </p:cNvCxnSpPr>
          <p:nvPr/>
        </p:nvCxnSpPr>
        <p:spPr>
          <a:xfrm>
            <a:off x="5568043" y="5274129"/>
            <a:ext cx="999308" cy="327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tăText 18">
            <a:extLst>
              <a:ext uri="{FF2B5EF4-FFF2-40B4-BE49-F238E27FC236}">
                <a16:creationId xmlns:a16="http://schemas.microsoft.com/office/drawing/2014/main" id="{422DCFB2-0656-5B98-2F19-08C0C0905D91}"/>
              </a:ext>
            </a:extLst>
          </p:cNvPr>
          <p:cNvSpPr txBox="1"/>
          <p:nvPr/>
        </p:nvSpPr>
        <p:spPr>
          <a:xfrm>
            <a:off x="6567351" y="4771024"/>
            <a:ext cx="6112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 err="1"/>
              <a:t>Timestamp</a:t>
            </a:r>
            <a:r>
              <a:rPr lang="ro-RO" dirty="0"/>
              <a:t>-uri cvasi-periodice</a:t>
            </a:r>
          </a:p>
        </p:txBody>
      </p:sp>
      <p:sp>
        <p:nvSpPr>
          <p:cNvPr id="23" name="CasetăText 22">
            <a:extLst>
              <a:ext uri="{FF2B5EF4-FFF2-40B4-BE49-F238E27FC236}">
                <a16:creationId xmlns:a16="http://schemas.microsoft.com/office/drawing/2014/main" id="{F5179121-A7E3-FBF9-F091-166CEBB7CE5C}"/>
              </a:ext>
            </a:extLst>
          </p:cNvPr>
          <p:cNvSpPr txBox="1"/>
          <p:nvPr/>
        </p:nvSpPr>
        <p:spPr>
          <a:xfrm>
            <a:off x="6567351" y="5407902"/>
            <a:ext cx="631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Corelație temporală a valorilor</a:t>
            </a:r>
          </a:p>
        </p:txBody>
      </p:sp>
      <p:sp>
        <p:nvSpPr>
          <p:cNvPr id="26" name="CasetăText 25">
            <a:extLst>
              <a:ext uri="{FF2B5EF4-FFF2-40B4-BE49-F238E27FC236}">
                <a16:creationId xmlns:a16="http://schemas.microsoft.com/office/drawing/2014/main" id="{0946D6F4-996A-36E2-7692-F8109AA1875C}"/>
              </a:ext>
            </a:extLst>
          </p:cNvPr>
          <p:cNvSpPr txBox="1"/>
          <p:nvPr/>
        </p:nvSpPr>
        <p:spPr>
          <a:xfrm>
            <a:off x="1914797" y="5602021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timestamp + value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0559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EC81CA7-D203-48F3-FEB8-8576E7A7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de </a:t>
            </a:r>
            <a:r>
              <a:rPr lang="en-US" dirty="0" err="1"/>
              <a:t>compresie</a:t>
            </a:r>
            <a:r>
              <a:rPr lang="en-US" dirty="0"/>
              <a:t> Gorilla</a:t>
            </a:r>
            <a:endParaRPr lang="ro-RO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55D46C96-E019-C828-6111-7CB36F296FCF}"/>
              </a:ext>
            </a:extLst>
          </p:cNvPr>
          <p:cNvSpPr txBox="1"/>
          <p:nvPr/>
        </p:nvSpPr>
        <p:spPr>
          <a:xfrm>
            <a:off x="566057" y="2393112"/>
            <a:ext cx="1798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dirty="0"/>
              <a:t>datele sunt </a:t>
            </a:r>
          </a:p>
          <a:p>
            <a:pPr algn="ctr"/>
            <a:r>
              <a:rPr lang="it-IT" dirty="0"/>
              <a:t>organizate </a:t>
            </a:r>
          </a:p>
          <a:p>
            <a:pPr algn="ctr"/>
            <a:r>
              <a:rPr lang="it-IT" dirty="0"/>
              <a:t>în blocuri (2h)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82ABD053-CB75-0D9E-C36C-A57ACA20BB74}"/>
              </a:ext>
            </a:extLst>
          </p:cNvPr>
          <p:cNvSpPr/>
          <p:nvPr/>
        </p:nvSpPr>
        <p:spPr>
          <a:xfrm>
            <a:off x="2721429" y="1977931"/>
            <a:ext cx="2705100" cy="182335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7311E0FB-900D-C5EC-83DA-5202F7906674}"/>
              </a:ext>
            </a:extLst>
          </p:cNvPr>
          <p:cNvSpPr txBox="1"/>
          <p:nvPr/>
        </p:nvSpPr>
        <p:spPr>
          <a:xfrm>
            <a:off x="3401786" y="2012446"/>
            <a:ext cx="1344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(t1, v1)</a:t>
            </a:r>
          </a:p>
          <a:p>
            <a:pPr algn="ctr"/>
            <a:r>
              <a:rPr lang="en-US" dirty="0"/>
              <a:t>(t2, v2)</a:t>
            </a:r>
          </a:p>
          <a:p>
            <a:pPr algn="ctr"/>
            <a:r>
              <a:rPr lang="en-US" dirty="0"/>
              <a:t>    .</a:t>
            </a:r>
          </a:p>
          <a:p>
            <a:pPr algn="ctr"/>
            <a:r>
              <a:rPr lang="en-US" dirty="0"/>
              <a:t>    .</a:t>
            </a:r>
          </a:p>
          <a:p>
            <a:pPr algn="ctr"/>
            <a:r>
              <a:rPr lang="en-US" dirty="0"/>
              <a:t>    . 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t_n</a:t>
            </a:r>
            <a:r>
              <a:rPr lang="en-US" dirty="0"/>
              <a:t>, </a:t>
            </a:r>
            <a:r>
              <a:rPr lang="en-US" dirty="0" err="1"/>
              <a:t>v_n</a:t>
            </a:r>
            <a:r>
              <a:rPr lang="en-US" dirty="0"/>
              <a:t>)</a:t>
            </a:r>
            <a:endParaRPr lang="ro-RO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E6EF2AF4-164F-BAF7-61F6-E04DBCDA9448}"/>
              </a:ext>
            </a:extLst>
          </p:cNvPr>
          <p:cNvSpPr/>
          <p:nvPr/>
        </p:nvSpPr>
        <p:spPr>
          <a:xfrm>
            <a:off x="5682344" y="1977931"/>
            <a:ext cx="2705100" cy="182335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B5470A22-DC69-76BD-C508-B7A6D33E8DD7}"/>
              </a:ext>
            </a:extLst>
          </p:cNvPr>
          <p:cNvSpPr txBox="1"/>
          <p:nvPr/>
        </p:nvSpPr>
        <p:spPr>
          <a:xfrm>
            <a:off x="6362701" y="2012446"/>
            <a:ext cx="1344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(t1, v1)</a:t>
            </a:r>
          </a:p>
          <a:p>
            <a:pPr algn="ctr"/>
            <a:r>
              <a:rPr lang="en-US" dirty="0"/>
              <a:t>(t2, v2)</a:t>
            </a:r>
          </a:p>
          <a:p>
            <a:pPr algn="ctr"/>
            <a:r>
              <a:rPr lang="en-US" dirty="0"/>
              <a:t>    .</a:t>
            </a:r>
          </a:p>
          <a:p>
            <a:pPr algn="ctr"/>
            <a:r>
              <a:rPr lang="en-US" dirty="0"/>
              <a:t>    .</a:t>
            </a:r>
          </a:p>
          <a:p>
            <a:pPr algn="ctr"/>
            <a:r>
              <a:rPr lang="en-US" dirty="0"/>
              <a:t>    . 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t_n</a:t>
            </a:r>
            <a:r>
              <a:rPr lang="en-US" dirty="0"/>
              <a:t>, </a:t>
            </a:r>
            <a:r>
              <a:rPr lang="en-US" dirty="0" err="1"/>
              <a:t>v_n</a:t>
            </a:r>
            <a:r>
              <a:rPr lang="en-US" dirty="0"/>
              <a:t>)</a:t>
            </a:r>
            <a:endParaRPr lang="ro-RO" dirty="0"/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1ABC3698-0141-6F0D-9002-B2F8F2150E91}"/>
              </a:ext>
            </a:extLst>
          </p:cNvPr>
          <p:cNvSpPr/>
          <p:nvPr/>
        </p:nvSpPr>
        <p:spPr>
          <a:xfrm>
            <a:off x="8643259" y="1977931"/>
            <a:ext cx="2705100" cy="1823357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759D8526-49FF-3B08-35C0-3CD6F53FA5F5}"/>
              </a:ext>
            </a:extLst>
          </p:cNvPr>
          <p:cNvSpPr txBox="1"/>
          <p:nvPr/>
        </p:nvSpPr>
        <p:spPr>
          <a:xfrm>
            <a:off x="9323616" y="2012446"/>
            <a:ext cx="1344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(t1, v1)</a:t>
            </a:r>
          </a:p>
          <a:p>
            <a:pPr algn="ctr"/>
            <a:r>
              <a:rPr lang="en-US" dirty="0"/>
              <a:t>(t2, v2)</a:t>
            </a:r>
          </a:p>
          <a:p>
            <a:pPr algn="ctr"/>
            <a:r>
              <a:rPr lang="en-US" dirty="0"/>
              <a:t>    .</a:t>
            </a:r>
          </a:p>
          <a:p>
            <a:pPr algn="ctr"/>
            <a:r>
              <a:rPr lang="en-US" dirty="0"/>
              <a:t>    .</a:t>
            </a:r>
          </a:p>
          <a:p>
            <a:pPr algn="ctr"/>
            <a:r>
              <a:rPr lang="en-US" dirty="0"/>
              <a:t>    . 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t_n</a:t>
            </a:r>
            <a:r>
              <a:rPr lang="en-US" dirty="0"/>
              <a:t>, </a:t>
            </a:r>
            <a:r>
              <a:rPr lang="en-US" dirty="0" err="1"/>
              <a:t>v_n</a:t>
            </a:r>
            <a:r>
              <a:rPr lang="en-US" dirty="0"/>
              <a:t>)</a:t>
            </a:r>
            <a:endParaRPr lang="ro-RO" dirty="0"/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50F69F09-F169-19D9-291F-C777F735806E}"/>
              </a:ext>
            </a:extLst>
          </p:cNvPr>
          <p:cNvSpPr txBox="1"/>
          <p:nvPr/>
        </p:nvSpPr>
        <p:spPr>
          <a:xfrm>
            <a:off x="11455040" y="2670111"/>
            <a:ext cx="620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 . .</a:t>
            </a:r>
            <a:endParaRPr lang="ro-RO" dirty="0"/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0915B8EB-7145-3D2D-15AB-B3C394AEDD79}"/>
              </a:ext>
            </a:extLst>
          </p:cNvPr>
          <p:cNvSpPr txBox="1"/>
          <p:nvPr/>
        </p:nvSpPr>
        <p:spPr>
          <a:xfrm>
            <a:off x="2669178" y="1945274"/>
            <a:ext cx="241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16:00</a:t>
            </a:r>
            <a:endParaRPr lang="ro-RO" dirty="0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3AF16610-5AE4-CF29-4C38-9ACD951EA6A6}"/>
              </a:ext>
            </a:extLst>
          </p:cNvPr>
          <p:cNvSpPr txBox="1"/>
          <p:nvPr/>
        </p:nvSpPr>
        <p:spPr>
          <a:xfrm>
            <a:off x="8662850" y="1960514"/>
            <a:ext cx="241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20:00</a:t>
            </a:r>
            <a:endParaRPr lang="ro-RO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91BD5927-4EF0-893E-7697-E3FF19209155}"/>
              </a:ext>
            </a:extLst>
          </p:cNvPr>
          <p:cNvSpPr txBox="1"/>
          <p:nvPr/>
        </p:nvSpPr>
        <p:spPr>
          <a:xfrm>
            <a:off x="5646423" y="1954288"/>
            <a:ext cx="241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18:00</a:t>
            </a:r>
            <a:endParaRPr lang="ro-RO" dirty="0"/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5BF97EDC-3954-8312-2407-7C21ED912B57}"/>
              </a:ext>
            </a:extLst>
          </p:cNvPr>
          <p:cNvSpPr txBox="1"/>
          <p:nvPr/>
        </p:nvSpPr>
        <p:spPr>
          <a:xfrm>
            <a:off x="4186644" y="3766772"/>
            <a:ext cx="1445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datapoints</a:t>
            </a:r>
            <a:endParaRPr lang="ro-RO" dirty="0"/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908E906A-7ACA-7A7C-5658-1E83714BD588}"/>
              </a:ext>
            </a:extLst>
          </p:cNvPr>
          <p:cNvSpPr txBox="1"/>
          <p:nvPr/>
        </p:nvSpPr>
        <p:spPr>
          <a:xfrm>
            <a:off x="7190014" y="3766772"/>
            <a:ext cx="1445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datapoints</a:t>
            </a:r>
            <a:endParaRPr lang="ro-RO" dirty="0"/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id="{173BE9EE-CCE4-32B2-043C-DC01AC9E0CC9}"/>
              </a:ext>
            </a:extLst>
          </p:cNvPr>
          <p:cNvSpPr txBox="1"/>
          <p:nvPr/>
        </p:nvSpPr>
        <p:spPr>
          <a:xfrm>
            <a:off x="10180320" y="3762883"/>
            <a:ext cx="1445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datapoints</a:t>
            </a:r>
            <a:endParaRPr lang="ro-RO" dirty="0"/>
          </a:p>
        </p:txBody>
      </p:sp>
      <p:pic>
        <p:nvPicPr>
          <p:cNvPr id="18" name="Imagine 17" descr="O imagine care conține text, Font, linie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10B24F42-7937-8CF4-C973-D76F2631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95" y="4283368"/>
            <a:ext cx="6115904" cy="1962424"/>
          </a:xfrm>
          <a:prstGeom prst="rect">
            <a:avLst/>
          </a:prstGeom>
        </p:spPr>
      </p:pic>
      <p:sp>
        <p:nvSpPr>
          <p:cNvPr id="19" name="CasetăText 18">
            <a:extLst>
              <a:ext uri="{FF2B5EF4-FFF2-40B4-BE49-F238E27FC236}">
                <a16:creationId xmlns:a16="http://schemas.microsoft.com/office/drawing/2014/main" id="{D93DFFAC-0801-7E28-115E-374291288F7C}"/>
              </a:ext>
            </a:extLst>
          </p:cNvPr>
          <p:cNvSpPr txBox="1"/>
          <p:nvPr/>
        </p:nvSpPr>
        <p:spPr>
          <a:xfrm>
            <a:off x="7418614" y="4911159"/>
            <a:ext cx="4263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Compresie</a:t>
            </a:r>
            <a:r>
              <a:rPr lang="en-US" dirty="0"/>
              <a:t> timestamps: delta of delta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Compresie</a:t>
            </a:r>
            <a:r>
              <a:rPr lang="en-US" dirty="0"/>
              <a:t> values: XOR encoding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35438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708E01C-5FDF-3327-3F5A-2B225BF4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Compresia </a:t>
            </a:r>
            <a:r>
              <a:rPr lang="en-US" dirty="0"/>
              <a:t>Timestamps</a:t>
            </a:r>
            <a:r>
              <a:rPr lang="ro-RO" dirty="0"/>
              <a:t>:</a:t>
            </a:r>
            <a:r>
              <a:rPr lang="en-US" dirty="0"/>
              <a:t> Delta-of-Delta</a:t>
            </a:r>
            <a:endParaRPr lang="ro-RO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DACE48B4-742F-212E-B3B1-7BAE10656D82}"/>
              </a:ext>
            </a:extLst>
          </p:cNvPr>
          <p:cNvSpPr txBox="1"/>
          <p:nvPr/>
        </p:nvSpPr>
        <p:spPr>
          <a:xfrm>
            <a:off x="1186542" y="2046515"/>
            <a:ext cx="105972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Observa</a:t>
            </a:r>
            <a:r>
              <a:rPr lang="ro-RO" dirty="0"/>
              <a:t>ții</a:t>
            </a:r>
            <a:r>
              <a:rPr lang="en-US" dirty="0"/>
              <a:t>:</a:t>
            </a:r>
            <a:endParaRPr lang="ro-RO" dirty="0"/>
          </a:p>
          <a:p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 </a:t>
            </a:r>
          </a:p>
          <a:p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dirty="0"/>
          </a:p>
          <a:p>
            <a:r>
              <a:rPr lang="ro-RO" b="1" dirty="0"/>
              <a:t>Prima idee</a:t>
            </a:r>
            <a:r>
              <a:rPr lang="en-US" dirty="0"/>
              <a:t>:</a:t>
            </a:r>
            <a:r>
              <a:rPr lang="ro-RO" dirty="0"/>
              <a:t> stocăm </a:t>
            </a:r>
            <a:r>
              <a:rPr lang="ro-RO" b="1" dirty="0">
                <a:solidFill>
                  <a:srgbClr val="C00000"/>
                </a:solidFill>
              </a:rPr>
              <a:t>delta</a:t>
            </a:r>
            <a:r>
              <a:rPr lang="ro-RO" dirty="0"/>
              <a:t> în loc de </a:t>
            </a:r>
            <a:r>
              <a:rPr lang="ro-RO" dirty="0" err="1"/>
              <a:t>timestamp</a:t>
            </a:r>
            <a:r>
              <a:rPr lang="en-US" dirty="0"/>
              <a:t> = </a:t>
            </a:r>
            <a:r>
              <a:rPr lang="ro-RO" dirty="0"/>
              <a:t>la ce diferență de timp am ajuns față de </a:t>
            </a:r>
            <a:r>
              <a:rPr lang="ro-RO" dirty="0" err="1"/>
              <a:t>datapoint-ul</a:t>
            </a:r>
            <a:r>
              <a:rPr lang="ro-RO" dirty="0"/>
              <a:t> anterior</a:t>
            </a:r>
          </a:p>
          <a:p>
            <a:r>
              <a:rPr lang="en-US" dirty="0"/>
              <a:t>	</a:t>
            </a:r>
            <a:endParaRPr lang="ro-RO" dirty="0"/>
          </a:p>
        </p:txBody>
      </p:sp>
      <p:pic>
        <p:nvPicPr>
          <p:cNvPr id="5" name="Imagine 4" descr="O imagine care conține Font, tipografie, text, caligrafie&#10;&#10;Conținutul generat de inteligența artificială poate fi incorect.">
            <a:extLst>
              <a:ext uri="{FF2B5EF4-FFF2-40B4-BE49-F238E27FC236}">
                <a16:creationId xmlns:a16="http://schemas.microsoft.com/office/drawing/2014/main" id="{6D0CDF11-0781-07EC-B361-82BF98742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589" y="2523205"/>
            <a:ext cx="3610479" cy="523948"/>
          </a:xfrm>
          <a:prstGeom prst="rect">
            <a:avLst/>
          </a:prstGeom>
        </p:spPr>
      </p:pic>
      <p:pic>
        <p:nvPicPr>
          <p:cNvPr id="7" name="Imagine 6" descr="O imagine care conține Font, alb, schiță, tipografie&#10;&#10;Conținutul generat de inteligența artificială poate fi incorect.">
            <a:extLst>
              <a:ext uri="{FF2B5EF4-FFF2-40B4-BE49-F238E27FC236}">
                <a16:creationId xmlns:a16="http://schemas.microsoft.com/office/drawing/2014/main" id="{C1F2D8B7-AFF5-2000-B109-AC55E98A4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071" y="3005094"/>
            <a:ext cx="1305107" cy="619211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192746C6-4F19-33A7-8F17-DB15604E5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404" y="4173838"/>
            <a:ext cx="2886478" cy="362001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62E4583D-84BF-A9B2-CF9E-6358D19E9E6E}"/>
              </a:ext>
            </a:extLst>
          </p:cNvPr>
          <p:cNvSpPr txBox="1"/>
          <p:nvPr/>
        </p:nvSpPr>
        <p:spPr>
          <a:xfrm>
            <a:off x="8926285" y="4166507"/>
            <a:ext cx="3102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//scade # de biți necesari</a:t>
            </a:r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D91DA8C9-1E02-68AD-43AC-18A4EC67FD01}"/>
              </a:ext>
            </a:extLst>
          </p:cNvPr>
          <p:cNvSpPr txBox="1"/>
          <p:nvPr/>
        </p:nvSpPr>
        <p:spPr>
          <a:xfrm>
            <a:off x="1186542" y="4685516"/>
            <a:ext cx="105373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/>
              <a:t>Îmbunătățire</a:t>
            </a:r>
            <a:r>
              <a:rPr lang="en-US" dirty="0"/>
              <a:t>:</a:t>
            </a:r>
            <a:r>
              <a:rPr lang="ro-RO" dirty="0"/>
              <a:t> stocăm </a:t>
            </a:r>
            <a:r>
              <a:rPr lang="ro-RO" b="1" dirty="0">
                <a:solidFill>
                  <a:srgbClr val="C00000"/>
                </a:solidFill>
              </a:rPr>
              <a:t>delta-of-delta</a:t>
            </a:r>
            <a:r>
              <a:rPr lang="ro-RO" dirty="0"/>
              <a:t> în loc de </a:t>
            </a:r>
            <a:r>
              <a:rPr lang="ro-RO" b="1" dirty="0">
                <a:solidFill>
                  <a:srgbClr val="C00000"/>
                </a:solidFill>
              </a:rPr>
              <a:t>delta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Mă aștept ca datele să vină periodic, la momente egal depărtate în timp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La ce distanță în timp am ajuns față de momentul la care se preconiza că voi ajunge?</a:t>
            </a:r>
          </a:p>
        </p:txBody>
      </p:sp>
      <p:pic>
        <p:nvPicPr>
          <p:cNvPr id="14" name="Imagine 13">
            <a:extLst>
              <a:ext uri="{FF2B5EF4-FFF2-40B4-BE49-F238E27FC236}">
                <a16:creationId xmlns:a16="http://schemas.microsoft.com/office/drawing/2014/main" id="{6423A4C3-A973-BDE7-D84B-FB1D008A1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897" y="5662524"/>
            <a:ext cx="4163006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30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FA09968-91D6-99C6-3437-6177B4450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Compresia </a:t>
            </a:r>
            <a:r>
              <a:rPr lang="en-US" dirty="0"/>
              <a:t>Timestamps</a:t>
            </a:r>
            <a:r>
              <a:rPr lang="ro-RO" dirty="0"/>
              <a:t>:</a:t>
            </a:r>
            <a:r>
              <a:rPr lang="en-US" dirty="0"/>
              <a:t> Delta-of-Delta</a:t>
            </a:r>
            <a:endParaRPr lang="ro-RO" dirty="0"/>
          </a:p>
        </p:txBody>
      </p:sp>
      <p:pic>
        <p:nvPicPr>
          <p:cNvPr id="4" name="Imagine 3" descr="O imagine care conține text, captură de ecran, Font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18772B37-012F-94F9-D303-0E79F4821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70" y="1987681"/>
            <a:ext cx="5706271" cy="2772162"/>
          </a:xfrm>
          <a:prstGeom prst="rect">
            <a:avLst/>
          </a:prstGeom>
        </p:spPr>
      </p:pic>
      <p:pic>
        <p:nvPicPr>
          <p:cNvPr id="6" name="Imagine 5" descr="O imagine care conține text, Font, captură de ecran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40E1874E-1E2C-95EF-45A7-CF0E97CA9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02050"/>
            <a:ext cx="5706271" cy="2143424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082FA74C-DA0B-1625-D4CA-B5D76BFDA4D2}"/>
              </a:ext>
            </a:extLst>
          </p:cNvPr>
          <p:cNvSpPr txBox="1"/>
          <p:nvPr/>
        </p:nvSpPr>
        <p:spPr>
          <a:xfrm>
            <a:off x="1887518" y="4759843"/>
            <a:ext cx="324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/>
              <a:t>Exemplu de calcul delta-of-delta</a:t>
            </a: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7FE7D263-2CC3-8226-32C2-149ED1717F77}"/>
              </a:ext>
            </a:extLst>
          </p:cNvPr>
          <p:cNvSpPr txBox="1"/>
          <p:nvPr/>
        </p:nvSpPr>
        <p:spPr>
          <a:xfrm>
            <a:off x="7549906" y="4759843"/>
            <a:ext cx="2798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/>
              <a:t>Schema de codare variabilă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81EBE0E0-312C-6FD0-2DBE-247DAC192CA2}"/>
              </a:ext>
            </a:extLst>
          </p:cNvPr>
          <p:cNvSpPr txBox="1"/>
          <p:nvPr/>
        </p:nvSpPr>
        <p:spPr>
          <a:xfrm>
            <a:off x="1418408" y="5443544"/>
            <a:ext cx="10849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C00000"/>
                </a:solidFill>
              </a:rPr>
              <a:t>96.39%</a:t>
            </a:r>
            <a:r>
              <a:rPr lang="fr-FR" dirty="0"/>
              <a:t> </a:t>
            </a:r>
            <a:r>
              <a:rPr lang="fr-FR" dirty="0" err="1"/>
              <a:t>dintre</a:t>
            </a:r>
            <a:r>
              <a:rPr lang="fr-FR" dirty="0"/>
              <a:t> timestamp-</a:t>
            </a:r>
            <a:r>
              <a:rPr lang="fr-FR" dirty="0" err="1"/>
              <a:t>uri</a:t>
            </a:r>
            <a:r>
              <a:rPr lang="fr-FR" dirty="0"/>
              <a:t> au D = 0 (</a:t>
            </a:r>
            <a:r>
              <a:rPr lang="fr-FR" b="1" dirty="0" err="1">
                <a:solidFill>
                  <a:srgbClr val="C00000"/>
                </a:solidFill>
              </a:rPr>
              <a:t>comprimate</a:t>
            </a:r>
            <a:r>
              <a:rPr lang="fr-FR" b="1" dirty="0">
                <a:solidFill>
                  <a:srgbClr val="C00000"/>
                </a:solidFill>
              </a:rPr>
              <a:t> la 1 bit</a:t>
            </a:r>
            <a:r>
              <a:rPr lang="fr-FR" dirty="0"/>
              <a:t>);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3.35% au D ∈ [−64,63] (9 </a:t>
            </a:r>
            <a:r>
              <a:rPr lang="fr-FR" dirty="0" err="1"/>
              <a:t>biți</a:t>
            </a:r>
            <a:r>
              <a:rPr lang="fr-FR" dirty="0"/>
              <a:t>), 0.19% au D ∈ [−256,255] (12 </a:t>
            </a:r>
            <a:r>
              <a:rPr lang="fr-FR" dirty="0" err="1"/>
              <a:t>biți</a:t>
            </a:r>
            <a:r>
              <a:rPr lang="fr-FR" dirty="0"/>
              <a:t>), </a:t>
            </a:r>
            <a:r>
              <a:rPr lang="en-US" dirty="0"/>
              <a:t>r</a:t>
            </a:r>
            <a:r>
              <a:rPr lang="ro-RO" dirty="0"/>
              <a:t>estul utilizează 16 sau 36 de biți.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02BC1D7C-2A15-0564-587E-9DBE5C51FE0F}"/>
              </a:ext>
            </a:extLst>
          </p:cNvPr>
          <p:cNvSpPr txBox="1"/>
          <p:nvPr/>
        </p:nvSpPr>
        <p:spPr>
          <a:xfrm>
            <a:off x="402771" y="5551715"/>
            <a:ext cx="974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Meta: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6733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15F65BE-0DC3-3839-03F3-9016A4427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Compresia Valorilor: XOR </a:t>
            </a:r>
            <a:r>
              <a:rPr lang="ro-RO" dirty="0" err="1"/>
              <a:t>Encoding</a:t>
            </a:r>
            <a:endParaRPr lang="ro-RO" dirty="0"/>
          </a:p>
        </p:txBody>
      </p:sp>
      <p:pic>
        <p:nvPicPr>
          <p:cNvPr id="4" name="Imagine 3" descr="O imagine care conține text, captură de ecran, Font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ADF3A729-73C6-61D3-AB6A-2372D96A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166" y="2108876"/>
            <a:ext cx="4572638" cy="819264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62B292F3-2807-DA45-27FA-FE2F9BB051BA}"/>
              </a:ext>
            </a:extLst>
          </p:cNvPr>
          <p:cNvSpPr txBox="1"/>
          <p:nvPr/>
        </p:nvSpPr>
        <p:spPr>
          <a:xfrm>
            <a:off x="1208314" y="2558808"/>
            <a:ext cx="422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Valorile</a:t>
            </a:r>
            <a:r>
              <a:rPr lang="en-US" b="1" dirty="0"/>
              <a:t> sunt:</a:t>
            </a:r>
            <a:endParaRPr lang="ro-RO" b="1" dirty="0"/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67211FA5-646A-6A55-1B59-EE24CF0224D7}"/>
              </a:ext>
            </a:extLst>
          </p:cNvPr>
          <p:cNvSpPr txBox="1"/>
          <p:nvPr/>
        </p:nvSpPr>
        <p:spPr>
          <a:xfrm>
            <a:off x="3771899" y="2928140"/>
            <a:ext cx="485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Structura IEEE 754 </a:t>
            </a:r>
            <a:r>
              <a:rPr lang="ro-RO" dirty="0" err="1"/>
              <a:t>double-precision</a:t>
            </a:r>
            <a:r>
              <a:rPr lang="ro-RO" dirty="0"/>
              <a:t> (64 biți)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925E073D-2736-CE2A-7FE3-D0382003EF7F}"/>
              </a:ext>
            </a:extLst>
          </p:cNvPr>
          <p:cNvSpPr txBox="1"/>
          <p:nvPr/>
        </p:nvSpPr>
        <p:spPr>
          <a:xfrm>
            <a:off x="1189264" y="3554851"/>
            <a:ext cx="1002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Problema</a:t>
            </a:r>
            <a:r>
              <a:rPr lang="ro-RO" dirty="0"/>
              <a:t>: Chiar și pentru valori foarte apropiate, reprezentările binare pot diferi semnificativ la nivelul mantisei. </a:t>
            </a:r>
            <a:r>
              <a:rPr lang="ro-RO" b="1" dirty="0">
                <a:solidFill>
                  <a:srgbClr val="C00000"/>
                </a:solidFill>
              </a:rPr>
              <a:t>Delta </a:t>
            </a:r>
            <a:r>
              <a:rPr lang="ro-RO" b="1" dirty="0" err="1">
                <a:solidFill>
                  <a:srgbClr val="C00000"/>
                </a:solidFill>
              </a:rPr>
              <a:t>encoding</a:t>
            </a:r>
            <a:r>
              <a:rPr lang="ro-RO" b="1" dirty="0">
                <a:solidFill>
                  <a:srgbClr val="C00000"/>
                </a:solidFill>
              </a:rPr>
              <a:t> simplu nu funcționează eficient.</a:t>
            </a: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20A59751-5ACC-6718-1C8F-08BC865C2374}"/>
              </a:ext>
            </a:extLst>
          </p:cNvPr>
          <p:cNvSpPr txBox="1"/>
          <p:nvPr/>
        </p:nvSpPr>
        <p:spPr>
          <a:xfrm>
            <a:off x="1189264" y="4556337"/>
            <a:ext cx="4454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Observația cheie</a:t>
            </a:r>
            <a:r>
              <a:rPr lang="ro-RO" dirty="0"/>
              <a:t>: </a:t>
            </a:r>
            <a:r>
              <a:rPr lang="ro-RO" b="1" dirty="0">
                <a:solidFill>
                  <a:srgbClr val="C00000"/>
                </a:solidFill>
              </a:rPr>
              <a:t>XOR pentru valori similare</a:t>
            </a: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9DF7A50D-17DB-9E89-7A3B-CEBB91F15505}"/>
              </a:ext>
            </a:extLst>
          </p:cNvPr>
          <p:cNvSpPr txBox="1"/>
          <p:nvPr/>
        </p:nvSpPr>
        <p:spPr>
          <a:xfrm>
            <a:off x="1189264" y="4888939"/>
            <a:ext cx="5712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Pentru valori apropiate, XOR-</a:t>
            </a:r>
            <a:r>
              <a:rPr lang="ro-RO" dirty="0" err="1"/>
              <a:t>ul</a:t>
            </a:r>
            <a:r>
              <a:rPr lang="ro-RO" dirty="0"/>
              <a:t> va avea mulți 0 consecutivi la început (</a:t>
            </a:r>
            <a:r>
              <a:rPr lang="ro-RO" dirty="0" err="1"/>
              <a:t>leading</a:t>
            </a:r>
            <a:r>
              <a:rPr lang="ro-RO" dirty="0"/>
              <a:t> zeros) și la sfârșit (</a:t>
            </a:r>
            <a:r>
              <a:rPr lang="ro-RO" dirty="0" err="1"/>
              <a:t>trailing</a:t>
            </a:r>
            <a:r>
              <a:rPr lang="ro-RO" dirty="0"/>
              <a:t> zeros).</a:t>
            </a:r>
          </a:p>
        </p:txBody>
      </p:sp>
      <p:pic>
        <p:nvPicPr>
          <p:cNvPr id="12" name="Imagine 11" descr="O imagine care conține text, Font, alb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470E26C1-F826-0D2B-2E12-5B8E23981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452" y="4458561"/>
            <a:ext cx="3486637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78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565F-A594-2CFB-6C35-BF887FBF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7407D-F4B0-2184-BE87-ABC7AAA43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    </a:t>
            </a:r>
          </a:p>
          <a:p>
            <a:pPr marL="0" indent="0">
              <a:buNone/>
            </a:pPr>
            <a:r>
              <a:rPr lang="en-US" sz="1800" dirty="0"/>
              <a:t>    22.6               =             0100000000110110100110011001100110011001100110011001100110011010</a:t>
            </a: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800" dirty="0"/>
              <a:t>    22.5               =             0100000000110110100000000000000000000000000000000000000000000000</a:t>
            </a:r>
          </a:p>
          <a:p>
            <a:pPr marL="0" indent="0">
              <a:buNone/>
            </a:pPr>
            <a:r>
              <a:rPr lang="en-US" sz="1800" dirty="0"/>
              <a:t>    22.5 XOR 22.6    =       0000000000000000000110011001100110011001100110011001100110011010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    </a:t>
            </a:r>
            <a:r>
              <a:rPr lang="en-US" sz="1800" dirty="0"/>
              <a:t>22.0              =              0100000000110110000000000000000000000000000000000000000000000000</a:t>
            </a:r>
          </a:p>
          <a:p>
            <a:pPr marL="0" indent="0">
              <a:buNone/>
            </a:pPr>
            <a:r>
              <a:rPr lang="en-US" sz="1800" dirty="0"/>
              <a:t>    22.5 XOR 22.0    =       0000000000000000100000000000000000000000000000000000000000000000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rgbClr val="C00000"/>
                </a:solidFill>
              </a:rPr>
              <a:t>59.06% </a:t>
            </a:r>
            <a:r>
              <a:rPr lang="ro-RO" sz="1800" dirty="0"/>
              <a:t>dintre valori sunt identice cu precedenta (1 bit)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rgbClr val="C00000"/>
                </a:solidFill>
              </a:rPr>
              <a:t>28.30% </a:t>
            </a:r>
            <a:r>
              <a:rPr lang="ro-RO" sz="1800" dirty="0"/>
              <a:t>refolosesc fereastra anterioară ( 27 biți în medie)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/>
              <a:t>12.64% necesită fereastră nouă ( 40 biți în medie)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9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1553278-4A00-E274-F2B2-A25B31A75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Extinderea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serii</a:t>
            </a:r>
            <a:r>
              <a:rPr lang="en-US" dirty="0"/>
              <a:t> multivariate</a:t>
            </a:r>
            <a:endParaRPr lang="ro-RO" dirty="0"/>
          </a:p>
        </p:txBody>
      </p:sp>
      <p:pic>
        <p:nvPicPr>
          <p:cNvPr id="4" name="Imagine 3" descr="O imagine care conține Font, scris de mână, caligrafie, alb&#10;&#10;Conținutul generat de inteligența artificială poate fi incorect.">
            <a:extLst>
              <a:ext uri="{FF2B5EF4-FFF2-40B4-BE49-F238E27FC236}">
                <a16:creationId xmlns:a16="http://schemas.microsoft.com/office/drawing/2014/main" id="{79C38F28-1ABD-89C7-7F73-9500DD19A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847" y="2090020"/>
            <a:ext cx="2267266" cy="533474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8B63338B-4725-87CD-974D-2AD72643CF0D}"/>
              </a:ext>
            </a:extLst>
          </p:cNvPr>
          <p:cNvSpPr txBox="1"/>
          <p:nvPr/>
        </p:nvSpPr>
        <p:spPr>
          <a:xfrm>
            <a:off x="1275375" y="2215243"/>
            <a:ext cx="371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/ timestamp:</a:t>
            </a:r>
            <a:endParaRPr lang="ro-RO" dirty="0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29FE16BE-D4EF-F3BD-D736-0E7C087705BF}"/>
              </a:ext>
            </a:extLst>
          </p:cNvPr>
          <p:cNvSpPr txBox="1"/>
          <p:nvPr/>
        </p:nvSpPr>
        <p:spPr>
          <a:xfrm>
            <a:off x="1003232" y="4110557"/>
            <a:ext cx="93943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o-RO" dirty="0">
                <a:solidFill>
                  <a:srgbClr val="C00000"/>
                </a:solidFill>
              </a:rPr>
              <a:t>Un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ro-RO" dirty="0">
                <a:solidFill>
                  <a:srgbClr val="C00000"/>
                </a:solidFill>
              </a:rPr>
              <a:t>singur </a:t>
            </a:r>
            <a:r>
              <a:rPr lang="ro-RO" dirty="0" err="1">
                <a:solidFill>
                  <a:srgbClr val="C00000"/>
                </a:solidFill>
              </a:rPr>
              <a:t>stream</a:t>
            </a:r>
            <a:r>
              <a:rPr lang="ro-RO" dirty="0">
                <a:solidFill>
                  <a:srgbClr val="C00000"/>
                </a:solidFill>
              </a:rPr>
              <a:t> de </a:t>
            </a:r>
            <a:r>
              <a:rPr lang="ro-RO" dirty="0" err="1">
                <a:solidFill>
                  <a:srgbClr val="C00000"/>
                </a:solidFill>
              </a:rPr>
              <a:t>timestamp</a:t>
            </a:r>
            <a:r>
              <a:rPr lang="ro-RO" dirty="0">
                <a:solidFill>
                  <a:srgbClr val="C00000"/>
                </a:solidFill>
              </a:rPr>
              <a:t>-uri </a:t>
            </a:r>
            <a:r>
              <a:rPr lang="ro-RO" dirty="0"/>
              <a:t>(delta-of-delta); </a:t>
            </a:r>
            <a:endParaRPr lang="en-US" dirty="0"/>
          </a:p>
          <a:p>
            <a:pPr marL="342900" indent="-342900">
              <a:buAutoNum type="arabicPeriod"/>
            </a:pPr>
            <a:r>
              <a:rPr lang="ro-RO" dirty="0">
                <a:solidFill>
                  <a:srgbClr val="C00000"/>
                </a:solidFill>
              </a:rPr>
              <a:t>Câte un </a:t>
            </a:r>
            <a:r>
              <a:rPr lang="ro-RO" dirty="0" err="1">
                <a:solidFill>
                  <a:srgbClr val="C00000"/>
                </a:solidFill>
              </a:rPr>
              <a:t>stream</a:t>
            </a:r>
            <a:r>
              <a:rPr lang="ro-RO" dirty="0">
                <a:solidFill>
                  <a:srgbClr val="C00000"/>
                </a:solidFill>
              </a:rPr>
              <a:t> separat pentru fiecare variabilă </a:t>
            </a:r>
            <a:r>
              <a:rPr lang="ro-RO" dirty="0"/>
              <a:t>(XOR </a:t>
            </a:r>
            <a:r>
              <a:rPr lang="ro-RO" dirty="0" err="1"/>
              <a:t>encoding</a:t>
            </a:r>
            <a:r>
              <a:rPr lang="ro-RO" dirty="0"/>
              <a:t>). Toate </a:t>
            </a:r>
            <a:r>
              <a:rPr lang="ro-RO" dirty="0" err="1"/>
              <a:t>stream</a:t>
            </a:r>
            <a:r>
              <a:rPr lang="ro-RO" dirty="0"/>
              <a:t>-urile scriu în același buffer de biți, dar fiecare variabilă își menține propriul context XOR (valoare anterioară, </a:t>
            </a:r>
            <a:r>
              <a:rPr lang="ro-RO" dirty="0" err="1"/>
              <a:t>leading</a:t>
            </a:r>
            <a:r>
              <a:rPr lang="ro-RO" dirty="0"/>
              <a:t>/</a:t>
            </a:r>
            <a:r>
              <a:rPr lang="ro-RO" dirty="0" err="1"/>
              <a:t>trailing</a:t>
            </a:r>
            <a:r>
              <a:rPr lang="ro-RO" dirty="0"/>
              <a:t> zeros).</a:t>
            </a: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0FB4D758-E2D6-1E82-FA51-59B76F819B48}"/>
              </a:ext>
            </a:extLst>
          </p:cNvPr>
          <p:cNvSpPr txBox="1"/>
          <p:nvPr/>
        </p:nvSpPr>
        <p:spPr>
          <a:xfrm>
            <a:off x="709316" y="3062458"/>
            <a:ext cx="10965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Abordarea naivă ar fi să tratăm fiecare variabilă ca o serie separată, dar aceasta ar duplica </a:t>
            </a:r>
            <a:r>
              <a:rPr lang="ro-RO" dirty="0" err="1"/>
              <a:t>timestamp</a:t>
            </a:r>
            <a:r>
              <a:rPr lang="ro-RO" dirty="0"/>
              <a:t>-urile de k ori.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Solutia:</a:t>
            </a:r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2075672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8367CB8F-648A-255A-C6B0-F899C80AD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Implementare</a:t>
            </a:r>
            <a:endParaRPr lang="en-US" sz="4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Imagine 3" descr="O imagine care conține text, captură de ecran, diagramă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58603523-C3CD-8528-3A42-03062DF9D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903408"/>
            <a:ext cx="6912217" cy="452750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1B5A52FB-E908-8684-2CE5-782180967301}"/>
              </a:ext>
            </a:extLst>
          </p:cNvPr>
          <p:cNvSpPr txBox="1"/>
          <p:nvPr/>
        </p:nvSpPr>
        <p:spPr>
          <a:xfrm>
            <a:off x="8119875" y="4343400"/>
            <a:ext cx="45407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ierarhie</a:t>
            </a:r>
            <a:r>
              <a:rPr lang="en-US" b="1" dirty="0"/>
              <a:t> de </a:t>
            </a:r>
            <a:r>
              <a:rPr lang="en-US" b="1" dirty="0" err="1"/>
              <a:t>clase</a:t>
            </a:r>
            <a:r>
              <a:rPr lang="en-US" b="1" dirty="0"/>
              <a:t> </a:t>
            </a:r>
          </a:p>
          <a:p>
            <a:r>
              <a:rPr lang="en-US" b="1" dirty="0"/>
              <a:t>		LOW-LEVEL -&gt; HIGH-LEVEL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/>
              <a:t>__</a:t>
            </a:r>
            <a:r>
              <a:rPr lang="ro-RO" b="1" dirty="0" err="1"/>
              <a:t>slots</a:t>
            </a:r>
            <a:r>
              <a:rPr lang="ro-RO" b="1" dirty="0"/>
              <a:t>__</a:t>
            </a:r>
            <a:r>
              <a:rPr lang="en-US" b="1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Elimina</a:t>
            </a:r>
            <a:r>
              <a:rPr lang="en-US" dirty="0"/>
              <a:t> </a:t>
            </a:r>
            <a:r>
              <a:rPr lang="en-US" dirty="0" err="1"/>
              <a:t>dict</a:t>
            </a:r>
            <a:r>
              <a:rPr lang="en-US" dirty="0"/>
              <a:t> Python al </a:t>
            </a:r>
            <a:r>
              <a:rPr lang="en-US" dirty="0" err="1"/>
              <a:t>obiectului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Acces</a:t>
            </a:r>
            <a:r>
              <a:rPr lang="en-US" dirty="0"/>
              <a:t> rapid la </a:t>
            </a:r>
            <a:r>
              <a:rPr lang="en-US" dirty="0" err="1"/>
              <a:t>atribute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Reduce </a:t>
            </a:r>
            <a:r>
              <a:rPr lang="en-US" dirty="0" err="1"/>
              <a:t>amprenta</a:t>
            </a:r>
            <a:r>
              <a:rPr lang="en-US" dirty="0"/>
              <a:t> de mem./</a:t>
            </a:r>
            <a:r>
              <a:rPr lang="en-US" dirty="0" err="1"/>
              <a:t>obiect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14234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6357DEE-AB50-19C5-5923-E1CDE804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Varianta îmbunătățită: Optimizarea ferestrei XOR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D7A6316B-4BD8-8720-B7C9-56A6BC4E5812}"/>
              </a:ext>
            </a:extLst>
          </p:cNvPr>
          <p:cNvSpPr txBox="1"/>
          <p:nvPr/>
        </p:nvSpPr>
        <p:spPr>
          <a:xfrm>
            <a:off x="1605643" y="2253343"/>
            <a:ext cx="6776357" cy="1513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  <p:pic>
        <p:nvPicPr>
          <p:cNvPr id="5" name="Imagine 4" descr="O imagine care conține text, chitanță, Fon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423561B9-BEF8-743C-BBE0-C5E8283D4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47" y="1914314"/>
            <a:ext cx="8707065" cy="1514686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90B0246E-CF90-9E50-1332-0DAA8E71049C}"/>
              </a:ext>
            </a:extLst>
          </p:cNvPr>
          <p:cNvSpPr/>
          <p:nvPr/>
        </p:nvSpPr>
        <p:spPr>
          <a:xfrm>
            <a:off x="9476014" y="2552701"/>
            <a:ext cx="870857" cy="386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14A7A74E-0348-B77E-CF56-FB88E32A7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415" y="3666420"/>
            <a:ext cx="6382641" cy="352474"/>
          </a:xfrm>
          <a:prstGeom prst="rect">
            <a:avLst/>
          </a:prstGeom>
        </p:spPr>
      </p:pic>
      <p:pic>
        <p:nvPicPr>
          <p:cNvPr id="10" name="Imagine 9" descr="O imagine care conține text, Font, alb, chitanță&#10;&#10;Conținutul generat de inteligența artificială poate fi incorect.">
            <a:extLst>
              <a:ext uri="{FF2B5EF4-FFF2-40B4-BE49-F238E27FC236}">
                <a16:creationId xmlns:a16="http://schemas.microsoft.com/office/drawing/2014/main" id="{D9760616-0A38-4F1C-F624-FE5319CAF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" y="4003877"/>
            <a:ext cx="8592749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A8BA8E6-05DD-C476-DC9C-15076913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</a:t>
            </a:r>
            <a:r>
              <a:rPr lang="ro-RO" dirty="0" err="1"/>
              <a:t>uția</a:t>
            </a:r>
            <a:r>
              <a:rPr lang="ro-RO" dirty="0"/>
              <a:t> propusă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EF571525-D5F7-907B-C714-5077320517FE}"/>
              </a:ext>
            </a:extLst>
          </p:cNvPr>
          <p:cNvSpPr txBox="1"/>
          <p:nvPr/>
        </p:nvSpPr>
        <p:spPr>
          <a:xfrm>
            <a:off x="1382486" y="2084614"/>
            <a:ext cx="94760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Fereastra anterioară este </a:t>
            </a:r>
            <a:r>
              <a:rPr lang="ro-RO" b="1" dirty="0">
                <a:solidFill>
                  <a:srgbClr val="C00000"/>
                </a:solidFill>
              </a:rPr>
              <a:t>semnificativ</a:t>
            </a:r>
            <a:r>
              <a:rPr lang="ro-RO" dirty="0"/>
              <a:t> mai mare decât cea curentă?</a:t>
            </a:r>
          </a:p>
          <a:p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Crearea unei ferestre noi costă exact </a:t>
            </a:r>
            <a:r>
              <a:rPr lang="it-IT" b="1" dirty="0">
                <a:solidFill>
                  <a:srgbClr val="C00000"/>
                </a:solidFill>
              </a:rPr>
              <a:t>11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b="1" dirty="0">
                <a:solidFill>
                  <a:srgbClr val="C00000"/>
                </a:solidFill>
              </a:rPr>
              <a:t>biți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/>
              <a:t>(5 pentru leading zeros + 6 pentru lungime).</a:t>
            </a: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C00000"/>
                </a:solidFill>
              </a:rPr>
              <a:t>Merită să creăm o fereastră nouă</a:t>
            </a:r>
            <a:r>
              <a:rPr lang="ro-RO" dirty="0"/>
              <a:t> doar dacă economia de biți depășește acest </a:t>
            </a:r>
            <a:r>
              <a:rPr lang="ro-RO" dirty="0" err="1"/>
              <a:t>overhead</a:t>
            </a:r>
            <a:r>
              <a:rPr lang="ro-RO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dirty="0"/>
          </a:p>
        </p:txBody>
      </p:sp>
      <p:pic>
        <p:nvPicPr>
          <p:cNvPr id="5" name="Imagine 4" descr="O imagine care conține text, Font, alb, tipografie&#10;&#10;Conținutul generat de inteligența artificială poate fi incorect.">
            <a:extLst>
              <a:ext uri="{FF2B5EF4-FFF2-40B4-BE49-F238E27FC236}">
                <a16:creationId xmlns:a16="http://schemas.microsoft.com/office/drawing/2014/main" id="{7C7A2DEF-2EE6-88C6-61ED-418996D5D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22" y="3429000"/>
            <a:ext cx="2619741" cy="523948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A91EFC08-AE63-C005-C3C2-1C56C8712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872" y="4837266"/>
            <a:ext cx="5715798" cy="523948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82068F38-A3EC-E7B0-8079-C12514B7C41E}"/>
              </a:ext>
            </a:extLst>
          </p:cNvPr>
          <p:cNvSpPr txBox="1"/>
          <p:nvPr/>
        </p:nvSpPr>
        <p:spPr>
          <a:xfrm>
            <a:off x="1382486" y="42844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C00000"/>
                </a:solidFill>
              </a:rPr>
              <a:t>Condiția completă pentru refolosirea ferestrei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endParaRPr lang="ro-RO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668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143EF49-D645-0736-F033-A50DC164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Experimente</a:t>
            </a:r>
            <a:r>
              <a:rPr lang="en-US" dirty="0"/>
              <a:t> </a:t>
            </a:r>
            <a:r>
              <a:rPr lang="ro-RO" dirty="0"/>
              <a:t>și rezultate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2941B83-AC79-7E3F-B2B6-6E9BD5FEF95F}"/>
              </a:ext>
            </a:extLst>
          </p:cNvPr>
          <p:cNvSpPr txBox="1"/>
          <p:nvPr/>
        </p:nvSpPr>
        <p:spPr>
          <a:xfrm>
            <a:off x="1097280" y="1852776"/>
            <a:ext cx="5236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Seturi de date pe care s-au realizat teste</a:t>
            </a:r>
            <a:r>
              <a:rPr lang="en-US" dirty="0"/>
              <a:t>:</a:t>
            </a:r>
            <a:endParaRPr lang="ro-RO" dirty="0"/>
          </a:p>
        </p:txBody>
      </p:sp>
      <p:pic>
        <p:nvPicPr>
          <p:cNvPr id="5" name="Imagine 4" descr="O imagine care conține text, Font, captură de ecran, alb&#10;&#10;Conținutul generat de inteligența artificială poate fi incorect.">
            <a:extLst>
              <a:ext uri="{FF2B5EF4-FFF2-40B4-BE49-F238E27FC236}">
                <a16:creationId xmlns:a16="http://schemas.microsoft.com/office/drawing/2014/main" id="{F33FDF96-8C50-42EE-B209-5BBADA0FE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17875"/>
            <a:ext cx="4696480" cy="2143424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0D38B4B3-FE8E-2E96-2999-3DDE761CB721}"/>
              </a:ext>
            </a:extLst>
          </p:cNvPr>
          <p:cNvSpPr txBox="1"/>
          <p:nvPr/>
        </p:nvSpPr>
        <p:spPr>
          <a:xfrm>
            <a:off x="1905015" y="4415133"/>
            <a:ext cx="3081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Caracteristicile</a:t>
            </a:r>
            <a:r>
              <a:rPr lang="fr-FR" dirty="0"/>
              <a:t> </a:t>
            </a:r>
            <a:r>
              <a:rPr lang="fr-FR" dirty="0" err="1"/>
              <a:t>setului</a:t>
            </a:r>
            <a:r>
              <a:rPr lang="fr-FR" dirty="0"/>
              <a:t> de date CPU </a:t>
            </a:r>
            <a:r>
              <a:rPr lang="fr-FR" dirty="0" err="1"/>
              <a:t>Load</a:t>
            </a:r>
            <a:r>
              <a:rPr lang="fr-FR" dirty="0"/>
              <a:t> Linux</a:t>
            </a:r>
            <a:endParaRPr lang="ro-RO" dirty="0"/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D2AF0486-B9E2-E47A-ECDF-9849BB5B9B3A}"/>
              </a:ext>
            </a:extLst>
          </p:cNvPr>
          <p:cNvSpPr txBox="1"/>
          <p:nvPr/>
        </p:nvSpPr>
        <p:spPr>
          <a:xfrm>
            <a:off x="1175657" y="5388148"/>
            <a:ext cx="4920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• Valorile variază ușor în timp, cu schimbări graduale caracteristice sarcinilor tipice de server.</a:t>
            </a:r>
          </a:p>
        </p:txBody>
      </p:sp>
      <p:pic>
        <p:nvPicPr>
          <p:cNvPr id="10" name="Imagine 9" descr="O imagine care conține text, captură de ecran, Font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5C0C8CEE-15D3-8C07-0B3B-38837602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166" y="2347186"/>
            <a:ext cx="4791744" cy="2038635"/>
          </a:xfrm>
          <a:prstGeom prst="rect">
            <a:avLst/>
          </a:prstGeom>
        </p:spPr>
      </p:pic>
      <p:sp>
        <p:nvSpPr>
          <p:cNvPr id="12" name="CasetăText 11">
            <a:extLst>
              <a:ext uri="{FF2B5EF4-FFF2-40B4-BE49-F238E27FC236}">
                <a16:creationId xmlns:a16="http://schemas.microsoft.com/office/drawing/2014/main" id="{37661D89-A33A-55E3-6CB4-628084A8E1F8}"/>
              </a:ext>
            </a:extLst>
          </p:cNvPr>
          <p:cNvSpPr txBox="1"/>
          <p:nvPr/>
        </p:nvSpPr>
        <p:spPr>
          <a:xfrm>
            <a:off x="7079995" y="4415133"/>
            <a:ext cx="3516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Caracteristicile</a:t>
            </a:r>
            <a:r>
              <a:rPr lang="fr-FR" dirty="0"/>
              <a:t> </a:t>
            </a:r>
            <a:r>
              <a:rPr lang="fr-FR" dirty="0" err="1"/>
              <a:t>setului</a:t>
            </a:r>
            <a:r>
              <a:rPr lang="fr-FR" dirty="0"/>
              <a:t> de date Twitter Volume UPS</a:t>
            </a:r>
            <a:endParaRPr lang="ro-RO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4F819120-8F09-A61E-4360-55AB9FC85299}"/>
              </a:ext>
            </a:extLst>
          </p:cNvPr>
          <p:cNvSpPr txBox="1"/>
          <p:nvPr/>
        </p:nvSpPr>
        <p:spPr>
          <a:xfrm>
            <a:off x="6572794" y="5170434"/>
            <a:ext cx="5470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• </a:t>
            </a:r>
            <a:r>
              <a:rPr lang="ro-RO" dirty="0" err="1"/>
              <a:t>Timestamp</a:t>
            </a:r>
            <a:r>
              <a:rPr lang="ro-RO" dirty="0"/>
              <a:t>-uri perfect periodice: 5 minute, </a:t>
            </a:r>
            <a:endParaRPr lang="en-US" dirty="0"/>
          </a:p>
          <a:p>
            <a:r>
              <a:rPr lang="ro-RO" dirty="0"/>
              <a:t>ideal delta-of-delta </a:t>
            </a:r>
            <a:endParaRPr lang="en-US" dirty="0"/>
          </a:p>
          <a:p>
            <a:r>
              <a:rPr lang="ro-RO" dirty="0"/>
              <a:t>• Valori întregi: Contoare de </a:t>
            </a:r>
            <a:r>
              <a:rPr lang="ro-RO" dirty="0" err="1"/>
              <a:t>tweet</a:t>
            </a:r>
            <a:r>
              <a:rPr lang="ro-RO" dirty="0"/>
              <a:t>-uri, care produc pattern-uri XOR diferite față de </a:t>
            </a:r>
            <a:r>
              <a:rPr lang="ro-RO" dirty="0" err="1"/>
              <a:t>valo</a:t>
            </a:r>
            <a:r>
              <a:rPr lang="ro-RO" dirty="0"/>
              <a:t> rile continue</a:t>
            </a:r>
          </a:p>
        </p:txBody>
      </p:sp>
    </p:spTree>
    <p:extLst>
      <p:ext uri="{BB962C8B-B14F-4D97-AF65-F5344CB8AC3E}">
        <p14:creationId xmlns:p14="http://schemas.microsoft.com/office/powerpoint/2010/main" val="1043524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 descr="O imagine care conține text, Interval, diagramă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0E01AED9-469A-403C-7601-076170E65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713996"/>
            <a:ext cx="10945753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85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ACF51AE-2E6A-91EA-8CAB-19126AFD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Experimente</a:t>
            </a:r>
            <a:r>
              <a:rPr lang="en-US" dirty="0"/>
              <a:t> </a:t>
            </a:r>
            <a:r>
              <a:rPr lang="ro-RO" dirty="0"/>
              <a:t>și rezultate</a:t>
            </a:r>
          </a:p>
        </p:txBody>
      </p:sp>
      <p:pic>
        <p:nvPicPr>
          <p:cNvPr id="4" name="Imagine 3" descr="O imagine care conține text, Font, captură de ecran, alb&#10;&#10;Conținutul generat de inteligența artificială poate fi incorect.">
            <a:extLst>
              <a:ext uri="{FF2B5EF4-FFF2-40B4-BE49-F238E27FC236}">
                <a16:creationId xmlns:a16="http://schemas.microsoft.com/office/drawing/2014/main" id="{41AD07E7-31AB-4578-9769-E428D03A6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430" y="2744717"/>
            <a:ext cx="3410426" cy="1991003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63D04C04-F64D-361B-DDB6-52A2056B7058}"/>
              </a:ext>
            </a:extLst>
          </p:cNvPr>
          <p:cNvSpPr txBox="1"/>
          <p:nvPr/>
        </p:nvSpPr>
        <p:spPr>
          <a:xfrm>
            <a:off x="2356757" y="4768220"/>
            <a:ext cx="4816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Room Climate Dataset (serie multivariată)</a:t>
            </a:r>
            <a:endParaRPr lang="ro-RO" dirty="0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60722DFC-A76F-D26C-04A2-3D3AD5C8493A}"/>
              </a:ext>
            </a:extLst>
          </p:cNvPr>
          <p:cNvSpPr txBox="1"/>
          <p:nvPr/>
        </p:nvSpPr>
        <p:spPr>
          <a:xfrm>
            <a:off x="7625443" y="2657090"/>
            <a:ext cx="25944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8</a:t>
            </a:r>
            <a:r>
              <a:rPr lang="en-US" dirty="0"/>
              <a:t> </a:t>
            </a:r>
            <a:r>
              <a:rPr lang="ro-RO" dirty="0"/>
              <a:t>variabile măsurate: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temperatură,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umiditate relativă,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lumină 1,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lumină 2,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ocupare,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activitate,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stare ușă</a:t>
            </a:r>
            <a:r>
              <a:rPr lang="en-US" dirty="0"/>
              <a:t>,</a:t>
            </a:r>
            <a:r>
              <a:rPr lang="ro-RO" dirty="0"/>
              <a:t>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stare fereastră.</a:t>
            </a:r>
          </a:p>
        </p:txBody>
      </p:sp>
    </p:spTree>
    <p:extLst>
      <p:ext uri="{BB962C8B-B14F-4D97-AF65-F5344CB8AC3E}">
        <p14:creationId xmlns:p14="http://schemas.microsoft.com/office/powerpoint/2010/main" val="1522935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 descr="O imagine care conține text, diagramă, linie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F540B24A-8544-8786-7482-D37B32740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830" y="594873"/>
            <a:ext cx="8278380" cy="5420481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A4F02B5A-7B44-D14D-4081-391195200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859" y="274025"/>
            <a:ext cx="3734321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45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 descr="O imagine care conține text, linie, captură de ecran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83AF4238-42AE-E4FA-6410-F5F10C94D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78" y="337950"/>
            <a:ext cx="8373644" cy="2676899"/>
          </a:xfrm>
          <a:prstGeom prst="rect">
            <a:avLst/>
          </a:prstGeom>
        </p:spPr>
      </p:pic>
      <p:pic>
        <p:nvPicPr>
          <p:cNvPr id="5" name="Imagine 4" descr="O imagine care conține linie, Dreptunghi, Interval, chitanță&#10;&#10;Conținutul generat de inteligența artificială poate fi incorect.">
            <a:extLst>
              <a:ext uri="{FF2B5EF4-FFF2-40B4-BE49-F238E27FC236}">
                <a16:creationId xmlns:a16="http://schemas.microsoft.com/office/drawing/2014/main" id="{52740E7E-BB7C-2FDE-AAA7-09EDC1BCF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"/>
          <a:stretch>
            <a:fillRect/>
          </a:stretch>
        </p:blipFill>
        <p:spPr>
          <a:xfrm>
            <a:off x="1847680" y="3244645"/>
            <a:ext cx="8435142" cy="274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31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49376A1-B410-0DD5-1415-FD2D5C79E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Metrici</a:t>
            </a:r>
            <a:r>
              <a:rPr lang="en-US" dirty="0"/>
              <a:t> de </a:t>
            </a:r>
            <a:r>
              <a:rPr lang="en-US" dirty="0" err="1"/>
              <a:t>evaluare</a:t>
            </a:r>
            <a:endParaRPr lang="ro-RO" dirty="0"/>
          </a:p>
        </p:txBody>
      </p:sp>
      <p:pic>
        <p:nvPicPr>
          <p:cNvPr id="4" name="Imagine 3" descr="O imagine care conține text, captură de ecran, Font, document&#10;&#10;Conținutul generat de inteligența artificială poate fi incorect.">
            <a:extLst>
              <a:ext uri="{FF2B5EF4-FFF2-40B4-BE49-F238E27FC236}">
                <a16:creationId xmlns:a16="http://schemas.microsoft.com/office/drawing/2014/main" id="{4C776A99-9E2A-CBBD-8B1D-4A9289618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75" y="1919645"/>
            <a:ext cx="8707065" cy="3667637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730DC7AA-B515-B9EF-5608-67F9647F8D7A}"/>
              </a:ext>
            </a:extLst>
          </p:cNvPr>
          <p:cNvSpPr/>
          <p:nvPr/>
        </p:nvSpPr>
        <p:spPr>
          <a:xfrm>
            <a:off x="9274629" y="3526972"/>
            <a:ext cx="1212511" cy="2198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3954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 descr="O imagine care conține text, Font, captură de ecran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A6167553-C645-9B3B-7C7F-59F8BBA2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2504946"/>
            <a:ext cx="8916644" cy="1848108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0B1A07F6-260C-0EDA-AC6F-980EE838EDDB}"/>
              </a:ext>
            </a:extLst>
          </p:cNvPr>
          <p:cNvSpPr txBox="1"/>
          <p:nvPr/>
        </p:nvSpPr>
        <p:spPr>
          <a:xfrm>
            <a:off x="4337992" y="1485865"/>
            <a:ext cx="3516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b="1" dirty="0">
                <a:solidFill>
                  <a:srgbClr val="C00000"/>
                </a:solidFill>
              </a:rPr>
              <a:t>Comparație globală</a:t>
            </a:r>
          </a:p>
        </p:txBody>
      </p:sp>
    </p:spTree>
    <p:extLst>
      <p:ext uri="{BB962C8B-B14F-4D97-AF65-F5344CB8AC3E}">
        <p14:creationId xmlns:p14="http://schemas.microsoft.com/office/powerpoint/2010/main" val="1546874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 descr="O imagine care conține text, captură de ecran, Font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C543E07C-9AB5-D35B-FD96-70BE2B6DD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24" y="401938"/>
            <a:ext cx="6744641" cy="2476846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AF52EE36-9E5B-7011-776C-F4CD847488C9}"/>
              </a:ext>
            </a:extLst>
          </p:cNvPr>
          <p:cNvSpPr txBox="1"/>
          <p:nvPr/>
        </p:nvSpPr>
        <p:spPr>
          <a:xfrm>
            <a:off x="1262988" y="2878784"/>
            <a:ext cx="455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CPU</a:t>
            </a:r>
            <a:r>
              <a:rPr lang="en-US" dirty="0"/>
              <a:t> </a:t>
            </a:r>
            <a:r>
              <a:rPr lang="ro-RO" dirty="0" err="1"/>
              <a:t>Load</a:t>
            </a:r>
            <a:r>
              <a:rPr lang="ro-RO" dirty="0"/>
              <a:t>:</a:t>
            </a:r>
            <a:r>
              <a:rPr lang="en-US" dirty="0"/>
              <a:t> </a:t>
            </a:r>
            <a:r>
              <a:rPr lang="ro-RO" dirty="0"/>
              <a:t>comparație</a:t>
            </a:r>
            <a:r>
              <a:rPr lang="en-US" dirty="0"/>
              <a:t> </a:t>
            </a:r>
            <a:r>
              <a:rPr lang="ro-RO" dirty="0"/>
              <a:t>detaliată</a:t>
            </a:r>
          </a:p>
        </p:txBody>
      </p:sp>
      <p:pic>
        <p:nvPicPr>
          <p:cNvPr id="6" name="Imagine 5" descr="O imagine care conține text, captură de ecran, Font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39FAB96D-ABF4-1B5D-D588-2FC97F3ED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387" y="3560426"/>
            <a:ext cx="6773220" cy="2400635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1731452C-C800-E8A5-8F40-A3F0483D3598}"/>
              </a:ext>
            </a:extLst>
          </p:cNvPr>
          <p:cNvSpPr txBox="1"/>
          <p:nvPr/>
        </p:nvSpPr>
        <p:spPr>
          <a:xfrm>
            <a:off x="6372496" y="6020933"/>
            <a:ext cx="455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Twitter Volume UPS</a:t>
            </a:r>
            <a:r>
              <a:rPr lang="ro-RO" dirty="0"/>
              <a:t>:</a:t>
            </a:r>
            <a:r>
              <a:rPr lang="en-US" dirty="0"/>
              <a:t> </a:t>
            </a:r>
            <a:r>
              <a:rPr lang="ro-RO" dirty="0"/>
              <a:t>comparație</a:t>
            </a:r>
            <a:r>
              <a:rPr lang="en-US" dirty="0"/>
              <a:t> </a:t>
            </a:r>
            <a:r>
              <a:rPr lang="ro-RO" dirty="0"/>
              <a:t>detaliată</a:t>
            </a:r>
          </a:p>
        </p:txBody>
      </p:sp>
    </p:spTree>
    <p:extLst>
      <p:ext uri="{BB962C8B-B14F-4D97-AF65-F5344CB8AC3E}">
        <p14:creationId xmlns:p14="http://schemas.microsoft.com/office/powerpoint/2010/main" val="890668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 descr="O imagine care conține text, captură de ecran, Font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C078EFE1-8644-B5C5-337A-6D25172C4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23" y="236597"/>
            <a:ext cx="6992326" cy="2400635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08B47634-B4AC-0202-A9BC-E75DFD4E3434}"/>
              </a:ext>
            </a:extLst>
          </p:cNvPr>
          <p:cNvSpPr txBox="1"/>
          <p:nvPr/>
        </p:nvSpPr>
        <p:spPr>
          <a:xfrm>
            <a:off x="1905000" y="263723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Room</a:t>
            </a:r>
            <a:r>
              <a:rPr lang="en-US" dirty="0"/>
              <a:t> </a:t>
            </a:r>
            <a:r>
              <a:rPr lang="ro-RO" dirty="0"/>
              <a:t>Climate:</a:t>
            </a:r>
            <a:r>
              <a:rPr lang="en-US" dirty="0"/>
              <a:t> </a:t>
            </a:r>
            <a:r>
              <a:rPr lang="ro-RO" dirty="0"/>
              <a:t>comparație</a:t>
            </a:r>
            <a:r>
              <a:rPr lang="en-US" dirty="0"/>
              <a:t> </a:t>
            </a:r>
            <a:r>
              <a:rPr lang="ro-RO" dirty="0"/>
              <a:t>detaliată</a:t>
            </a:r>
          </a:p>
        </p:txBody>
      </p:sp>
      <p:pic>
        <p:nvPicPr>
          <p:cNvPr id="6" name="Imagine 5" descr="O imagine care conține text, Font, captură de ecran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4BBE8EA2-D752-4D3C-E39E-8C242CCE1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13" y="4089997"/>
            <a:ext cx="7849695" cy="1895740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5ACC1441-23D5-F611-1B44-D30515F9B484}"/>
              </a:ext>
            </a:extLst>
          </p:cNvPr>
          <p:cNvSpPr txBox="1"/>
          <p:nvPr/>
        </p:nvSpPr>
        <p:spPr>
          <a:xfrm>
            <a:off x="6009406" y="5943535"/>
            <a:ext cx="609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Sumar rate de compresie și îmbunătățiri</a:t>
            </a:r>
          </a:p>
        </p:txBody>
      </p:sp>
    </p:spTree>
    <p:extLst>
      <p:ext uri="{BB962C8B-B14F-4D97-AF65-F5344CB8AC3E}">
        <p14:creationId xmlns:p14="http://schemas.microsoft.com/office/powerpoint/2010/main" val="1573060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 descr="O imagine care conține text, captură de ecran, Interval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A2507D5D-0075-0243-3A99-939272BC9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1914239"/>
            <a:ext cx="8516539" cy="4096322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443AAE2C-D8B1-EB5A-E368-5B3DD2665096}"/>
              </a:ext>
            </a:extLst>
          </p:cNvPr>
          <p:cNvSpPr txBox="1"/>
          <p:nvPr/>
        </p:nvSpPr>
        <p:spPr>
          <a:xfrm>
            <a:off x="2597717" y="783023"/>
            <a:ext cx="6855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Compresie</a:t>
            </a:r>
            <a:r>
              <a:rPr lang="en-US" sz="2800" b="1" dirty="0"/>
              <a:t> lossless</a:t>
            </a: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1311780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C4F2990-7164-0DF2-2203-51BBE213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endParaRPr lang="ro-RO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BCED714E-B92E-94E1-016B-A6C183EA3568}"/>
              </a:ext>
            </a:extLst>
          </p:cNvPr>
          <p:cNvSpPr txBox="1"/>
          <p:nvPr/>
        </p:nvSpPr>
        <p:spPr>
          <a:xfrm>
            <a:off x="865414" y="1737360"/>
            <a:ext cx="9601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Pe </a:t>
            </a:r>
            <a:r>
              <a:rPr lang="en-US" b="1" dirty="0" err="1"/>
              <a:t>seturile</a:t>
            </a:r>
            <a:r>
              <a:rPr lang="en-US" b="1" dirty="0"/>
              <a:t> de date testate: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noastra</a:t>
            </a:r>
            <a:r>
              <a:rPr lang="en-US" dirty="0"/>
              <a:t> </a:t>
            </a:r>
            <a:r>
              <a:rPr lang="ro-RO" dirty="0"/>
              <a:t>reduce dimensiunea datelor cu </a:t>
            </a:r>
            <a:r>
              <a:rPr lang="ro-RO" b="1" dirty="0">
                <a:solidFill>
                  <a:srgbClr val="C00000"/>
                </a:solidFill>
              </a:rPr>
              <a:t>55–85%</a:t>
            </a:r>
            <a:r>
              <a:rPr lang="ro-RO" dirty="0"/>
              <a:t> față de stocarea necomprimată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Cu cât </a:t>
            </a:r>
            <a:r>
              <a:rPr lang="ro-RO" b="1" dirty="0">
                <a:solidFill>
                  <a:srgbClr val="C00000"/>
                </a:solidFill>
              </a:rPr>
              <a:t>mai multe date</a:t>
            </a:r>
            <a:r>
              <a:rPr lang="ro-RO" dirty="0"/>
              <a:t>, cu atât </a:t>
            </a:r>
            <a:r>
              <a:rPr lang="ro-RO" b="1" dirty="0">
                <a:solidFill>
                  <a:srgbClr val="C00000"/>
                </a:solidFill>
              </a:rPr>
              <a:t>economia</a:t>
            </a:r>
            <a:r>
              <a:rPr lang="ro-RO" dirty="0"/>
              <a:t> absolută este </a:t>
            </a:r>
            <a:r>
              <a:rPr lang="ro-RO" b="1" dirty="0">
                <a:solidFill>
                  <a:srgbClr val="C00000"/>
                </a:solidFill>
              </a:rPr>
              <a:t>mai mare </a:t>
            </a:r>
            <a:r>
              <a:rPr lang="ro-RO" dirty="0"/>
              <a:t>(21+ KB pentru Room Climate).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Despre </a:t>
            </a:r>
            <a:r>
              <a:rPr lang="en-US" b="1" dirty="0" err="1"/>
              <a:t>varianta</a:t>
            </a:r>
            <a:r>
              <a:rPr lang="en-US" b="1" dirty="0"/>
              <a:t> </a:t>
            </a:r>
            <a:r>
              <a:rPr lang="en-US" b="1" dirty="0" err="1"/>
              <a:t>imbun</a:t>
            </a:r>
            <a:r>
              <a:rPr lang="ro-RO" b="1" dirty="0"/>
              <a:t>ă</a:t>
            </a:r>
            <a:r>
              <a:rPr lang="en-US" b="1" dirty="0"/>
              <a:t>t</a:t>
            </a:r>
            <a:r>
              <a:rPr lang="ro-RO" b="1" dirty="0" err="1"/>
              <a:t>ăț</a:t>
            </a:r>
            <a:r>
              <a:rPr lang="en-US" b="1" dirty="0"/>
              <a:t>it</a:t>
            </a:r>
            <a:r>
              <a:rPr lang="ro-RO" b="1" dirty="0"/>
              <a:t>ă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Nu există niciun caz în care varianta standard ar fi mai bună — </a:t>
            </a:r>
            <a:r>
              <a:rPr lang="ro-RO" b="1" dirty="0"/>
              <a:t>optimizarea este universal benefică </a:t>
            </a:r>
            <a:r>
              <a:rPr lang="ro-RO" dirty="0"/>
              <a:t>(</a:t>
            </a:r>
            <a:r>
              <a:rPr lang="ro-RO" b="1" dirty="0">
                <a:solidFill>
                  <a:srgbClr val="C00000"/>
                </a:solidFill>
              </a:rPr>
              <a:t>demonstrat matematic și experimental</a:t>
            </a:r>
            <a:r>
              <a:rPr lang="ro-RO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dirty="0"/>
          </a:p>
          <a:p>
            <a:r>
              <a:rPr lang="ro-RO" b="1" dirty="0"/>
              <a:t>Despre delta-of-delta</a:t>
            </a:r>
            <a:r>
              <a:rPr lang="en-US" b="1" dirty="0"/>
              <a:t> (timestamps):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Cea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ro-RO" dirty="0"/>
              <a:t>eficientă pentru </a:t>
            </a:r>
            <a:r>
              <a:rPr lang="en-US" dirty="0" err="1"/>
              <a:t>serii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 cu date </a:t>
            </a:r>
            <a:r>
              <a:rPr lang="en-US" dirty="0" err="1"/>
              <a:t>ce</a:t>
            </a:r>
            <a:r>
              <a:rPr lang="en-US" dirty="0"/>
              <a:t> vin la</a:t>
            </a:r>
            <a:r>
              <a:rPr lang="ro-RO" dirty="0"/>
              <a:t> </a:t>
            </a:r>
            <a:r>
              <a:rPr lang="ro-RO" b="1" dirty="0">
                <a:solidFill>
                  <a:srgbClr val="C00000"/>
                </a:solidFill>
              </a:rPr>
              <a:t>intervale regulate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b="1" dirty="0"/>
              <a:t>Despre </a:t>
            </a:r>
            <a:r>
              <a:rPr lang="en-US" b="1" dirty="0" err="1"/>
              <a:t>xor</a:t>
            </a:r>
            <a:r>
              <a:rPr lang="en-US" b="1" dirty="0"/>
              <a:t>-encoding (values):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Eficien</a:t>
            </a:r>
            <a:r>
              <a:rPr lang="ro-RO" dirty="0"/>
              <a:t>ța depinde de aspectul datelor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Valori </a:t>
            </a:r>
            <a:r>
              <a:rPr lang="ro-RO" b="1" dirty="0">
                <a:solidFill>
                  <a:srgbClr val="C00000"/>
                </a:solidFill>
              </a:rPr>
              <a:t>constante</a:t>
            </a:r>
            <a:r>
              <a:rPr lang="ro-RO" dirty="0"/>
              <a:t> sau aproape constante: </a:t>
            </a:r>
            <a:r>
              <a:rPr lang="ro-RO" b="1" dirty="0">
                <a:solidFill>
                  <a:srgbClr val="C00000"/>
                </a:solidFill>
              </a:rPr>
              <a:t>1 bit </a:t>
            </a:r>
            <a:r>
              <a:rPr lang="ro-RO" dirty="0"/>
              <a:t>(XOR = 0);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Valori cu </a:t>
            </a:r>
            <a:r>
              <a:rPr lang="ro-RO" b="1" dirty="0">
                <a:solidFill>
                  <a:srgbClr val="C00000"/>
                </a:solidFill>
              </a:rPr>
              <a:t>variație lentă</a:t>
            </a:r>
            <a:r>
              <a:rPr lang="ro-RO" dirty="0"/>
              <a:t>: beneficiază de refolosirea ferestrei (</a:t>
            </a:r>
            <a:r>
              <a:rPr lang="ro-RO" b="1" dirty="0">
                <a:solidFill>
                  <a:srgbClr val="C00000"/>
                </a:solidFill>
              </a:rPr>
              <a:t>2 + M </a:t>
            </a:r>
            <a:r>
              <a:rPr lang="ro-RO" dirty="0"/>
              <a:t>biți);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Valori cu variație </a:t>
            </a:r>
            <a:r>
              <a:rPr lang="ro-RO" b="1" dirty="0">
                <a:solidFill>
                  <a:srgbClr val="C00000"/>
                </a:solidFill>
              </a:rPr>
              <a:t>bruscă</a:t>
            </a:r>
            <a:r>
              <a:rPr lang="ro-RO" dirty="0"/>
              <a:t>: necesită fereastră nouă (</a:t>
            </a:r>
            <a:r>
              <a:rPr lang="ro-RO" b="1" dirty="0">
                <a:solidFill>
                  <a:srgbClr val="C00000"/>
                </a:solidFill>
              </a:rPr>
              <a:t>13 + M </a:t>
            </a:r>
            <a:r>
              <a:rPr lang="ro-RO" dirty="0"/>
              <a:t>biți).</a:t>
            </a:r>
            <a:endParaRPr lang="en-US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7B18ED50-3DCA-4699-349D-4C896864B001}"/>
              </a:ext>
            </a:extLst>
          </p:cNvPr>
          <p:cNvSpPr txBox="1"/>
          <p:nvPr/>
        </p:nvSpPr>
        <p:spPr>
          <a:xfrm>
            <a:off x="8490858" y="5061346"/>
            <a:ext cx="3445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! </a:t>
            </a:r>
            <a:r>
              <a:rPr lang="ro-RO" dirty="0">
                <a:solidFill>
                  <a:srgbClr val="C00000"/>
                </a:solidFill>
              </a:rPr>
              <a:t>Optimizarea noastră reduce ineficiența </a:t>
            </a:r>
            <a:r>
              <a:rPr lang="ro-RO" dirty="0"/>
              <a:t>în cazurile în care fereastra anterioară era </a:t>
            </a:r>
            <a:r>
              <a:rPr lang="ro-RO" dirty="0">
                <a:solidFill>
                  <a:srgbClr val="C00000"/>
                </a:solidFill>
              </a:rPr>
              <a:t>semnificativ supradimensionată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!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63258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AE76A8C-3A1F-28F3-1792-DCAB760F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</a:t>
            </a:r>
            <a:r>
              <a:rPr lang="ro-RO" dirty="0" err="1"/>
              <a:t>ări</a:t>
            </a:r>
            <a:r>
              <a:rPr lang="ro-RO" dirty="0"/>
              <a:t> identificate și </a:t>
            </a:r>
            <a:r>
              <a:rPr lang="ro-RO" dirty="0" err="1"/>
              <a:t>Future</a:t>
            </a:r>
            <a:r>
              <a:rPr lang="ro-RO" dirty="0"/>
              <a:t> </a:t>
            </a:r>
            <a:r>
              <a:rPr lang="ro-RO" dirty="0" err="1"/>
              <a:t>work</a:t>
            </a:r>
            <a:endParaRPr lang="ro-RO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108754E9-FA2D-71E8-3477-576521E513EC}"/>
              </a:ext>
            </a:extLst>
          </p:cNvPr>
          <p:cNvSpPr txBox="1"/>
          <p:nvPr/>
        </p:nvSpPr>
        <p:spPr>
          <a:xfrm>
            <a:off x="1097280" y="1937657"/>
            <a:ext cx="104089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Algoritmul </a:t>
            </a:r>
            <a:r>
              <a:rPr lang="ro-RO" b="1" dirty="0">
                <a:solidFill>
                  <a:srgbClr val="C00000"/>
                </a:solidFill>
              </a:rPr>
              <a:t>nu e optim pentru date cu variabilitate mare</a:t>
            </a:r>
            <a:r>
              <a:rPr lang="ro-RO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C00000"/>
                </a:solidFill>
              </a:rPr>
              <a:t>Decomprimarea</a:t>
            </a:r>
            <a:r>
              <a:rPr lang="ro-RO" dirty="0"/>
              <a:t> necesită parcurgerea </a:t>
            </a:r>
            <a:r>
              <a:rPr lang="ro-RO" b="1" dirty="0">
                <a:solidFill>
                  <a:srgbClr val="C00000"/>
                </a:solidFill>
              </a:rPr>
              <a:t>secvențială</a:t>
            </a:r>
            <a:r>
              <a:rPr lang="ro-RO" dirty="0"/>
              <a:t> de la începutul blocului. Nu există acces aleatoriu la un punct specific fără a decoda toate punctele anterioare din bloc.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Implementarea în </a:t>
            </a:r>
            <a:r>
              <a:rPr lang="ro-RO" b="1" dirty="0" err="1">
                <a:solidFill>
                  <a:srgbClr val="C00000"/>
                </a:solidFill>
              </a:rPr>
              <a:t>Python</a:t>
            </a:r>
            <a:r>
              <a:rPr lang="ro-RO" dirty="0"/>
              <a:t> – inferioară unei implementări native.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Timpii de compresie observați (∼2.7 secunde pentru 68,229 puncte × 8 variabile).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dirty="0"/>
          </a:p>
          <a:p>
            <a:endParaRPr lang="ro-RO" dirty="0"/>
          </a:p>
          <a:p>
            <a:r>
              <a:rPr lang="ro-RO" b="1" dirty="0"/>
              <a:t>Optimizări de performanță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b="1" dirty="0">
                <a:solidFill>
                  <a:srgbClr val="C00000"/>
                </a:solidFill>
              </a:rPr>
              <a:t>C</a:t>
            </a:r>
            <a:endParaRPr lang="ro-RO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Blocurile independente ar putea fi </a:t>
            </a:r>
            <a:r>
              <a:rPr lang="ro-RO" b="1" dirty="0">
                <a:solidFill>
                  <a:srgbClr val="C00000"/>
                </a:solidFill>
              </a:rPr>
              <a:t>comprimate/decomprimate în paralel.</a:t>
            </a:r>
            <a:endParaRPr lang="en-US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Suport pentru </a:t>
            </a:r>
            <a:r>
              <a:rPr lang="ro-RO" b="1" dirty="0" err="1">
                <a:solidFill>
                  <a:srgbClr val="C00000"/>
                </a:solidFill>
              </a:rPr>
              <a:t>missing</a:t>
            </a:r>
            <a:r>
              <a:rPr lang="ro-RO" b="1" dirty="0">
                <a:solidFill>
                  <a:srgbClr val="C00000"/>
                </a:solidFill>
              </a:rPr>
              <a:t> </a:t>
            </a:r>
            <a:r>
              <a:rPr lang="ro-RO" b="1" dirty="0" err="1">
                <a:solidFill>
                  <a:srgbClr val="C00000"/>
                </a:solidFill>
              </a:rPr>
              <a:t>values</a:t>
            </a:r>
            <a:r>
              <a:rPr lang="ro-RO" dirty="0"/>
              <a:t>: Gestionarea explicită a punctelor lipsă.</a:t>
            </a:r>
            <a:endParaRPr lang="ro-RO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C00000"/>
                </a:solidFill>
              </a:rPr>
              <a:t>Pentru </a:t>
            </a:r>
            <a:r>
              <a:rPr lang="ro-RO" b="1" dirty="0" err="1">
                <a:solidFill>
                  <a:srgbClr val="C00000"/>
                </a:solidFill>
              </a:rPr>
              <a:t>queries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ro-RO" dirty="0"/>
              <a:t>Indexare: Structuri pentru acces rapid la anumite </a:t>
            </a:r>
            <a:r>
              <a:rPr lang="ro-RO" dirty="0" err="1"/>
              <a:t>timestamp</a:t>
            </a:r>
            <a:r>
              <a:rPr lang="ro-RO" dirty="0"/>
              <a:t>-uri</a:t>
            </a:r>
            <a:r>
              <a:rPr lang="en-US" dirty="0"/>
              <a:t> din bloc.</a:t>
            </a:r>
            <a:endParaRPr lang="ro-RO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7391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498</TotalTime>
  <Words>1144</Words>
  <Application>Microsoft Office PowerPoint</Application>
  <PresentationFormat>Widescreen</PresentationFormat>
  <Paragraphs>179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Retrospect</vt:lpstr>
      <vt:lpstr>Eficientizarea stocării seriilor de timp utilizând algoritmul Gorilla</vt:lpstr>
      <vt:lpstr>Abstract</vt:lpstr>
      <vt:lpstr>Introducere</vt:lpstr>
      <vt:lpstr>Algoritmul de compresie Gorilla</vt:lpstr>
      <vt:lpstr>Compresia Timestamps: Delta-of-Delta</vt:lpstr>
      <vt:lpstr>Compresia Timestamps: Delta-of-Delta</vt:lpstr>
      <vt:lpstr>Compresia Valorilor: XOR Encoding</vt:lpstr>
      <vt:lpstr>Exemplu</vt:lpstr>
      <vt:lpstr>Extinderea pentru serii multivariate</vt:lpstr>
      <vt:lpstr>Implementare</vt:lpstr>
      <vt:lpstr>Varianta îmbunătățită: Optimizarea ferestrei XOR</vt:lpstr>
      <vt:lpstr>Soluția propusă</vt:lpstr>
      <vt:lpstr>Experimente și rezultate</vt:lpstr>
      <vt:lpstr>PowerPoint Presentation</vt:lpstr>
      <vt:lpstr>Experimente și rezultate</vt:lpstr>
      <vt:lpstr>PowerPoint Presentation</vt:lpstr>
      <vt:lpstr>PowerPoint Presentation</vt:lpstr>
      <vt:lpstr>Metrici de evaluare</vt:lpstr>
      <vt:lpstr>PowerPoint Presentation</vt:lpstr>
      <vt:lpstr>PowerPoint Presentation</vt:lpstr>
      <vt:lpstr>PowerPoint Presentation</vt:lpstr>
      <vt:lpstr>PowerPoint Presentation</vt:lpstr>
      <vt:lpstr>Concluzii</vt:lpstr>
      <vt:lpstr>Limitări identificate și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DAVID-CRISTIAN MUSCALU</dc:creator>
  <cp:lastModifiedBy>DAVID-CRISTIAN MUSCALU</cp:lastModifiedBy>
  <cp:revision>7</cp:revision>
  <dcterms:created xsi:type="dcterms:W3CDTF">2026-02-05T02:18:16Z</dcterms:created>
  <dcterms:modified xsi:type="dcterms:W3CDTF">2026-02-05T10:43:50Z</dcterms:modified>
</cp:coreProperties>
</file>