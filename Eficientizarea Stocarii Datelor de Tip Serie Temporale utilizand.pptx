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3" autoAdjust="0"/>
    <p:restoredTop sz="94660"/>
  </p:normalViewPr>
  <p:slideViewPr>
    <p:cSldViewPr snapToGrid="0">
      <p:cViewPr varScale="1">
        <p:scale>
          <a:sx n="98" d="100"/>
          <a:sy n="98" d="100"/>
        </p:scale>
        <p:origin x="370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B18C0-4F01-4AC2-B699-BCBEB906CDCC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C6963-A23A-4222-9AB0-5D3394A46906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748990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B18C0-4F01-4AC2-B699-BCBEB906CDCC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C6963-A23A-4222-9AB0-5D3394A469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834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B18C0-4F01-4AC2-B699-BCBEB906CDCC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C6963-A23A-4222-9AB0-5D3394A46906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4272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B18C0-4F01-4AC2-B699-BCBEB906CDCC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C6963-A23A-4222-9AB0-5D3394A469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03817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B18C0-4F01-4AC2-B699-BCBEB906CDCC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C6963-A23A-4222-9AB0-5D3394A469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159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B18C0-4F01-4AC2-B699-BCBEB906CDCC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C6963-A23A-4222-9AB0-5D3394A469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36597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B18C0-4F01-4AC2-B699-BCBEB906CDCC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C6963-A23A-4222-9AB0-5D3394A469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749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D46B18C0-4F01-4AC2-B699-BCBEB906CDCC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F6DC6963-A23A-4222-9AB0-5D3394A469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20753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B18C0-4F01-4AC2-B699-BCBEB906CDCC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C6963-A23A-4222-9AB0-5D3394A469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86013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B18C0-4F01-4AC2-B699-BCBEB906CDCC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C6963-A23A-4222-9AB0-5D3394A469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79589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B18C0-4F01-4AC2-B699-BCBEB906CDCC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C6963-A23A-4222-9AB0-5D3394A469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39932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46B18C0-4F01-4AC2-B699-BCBEB906CDCC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F6DC6963-A23A-4222-9AB0-5D3394A46906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78682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9" r:id="rId1"/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C98F7F-4AD7-6D95-3860-219F7E540C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67692" y="549030"/>
            <a:ext cx="9144000" cy="2102339"/>
          </a:xfrm>
        </p:spPr>
        <p:txBody>
          <a:bodyPr>
            <a:normAutofit/>
          </a:bodyPr>
          <a:lstStyle/>
          <a:p>
            <a:r>
              <a:rPr lang="en-US" sz="4800" dirty="0" err="1"/>
              <a:t>Eficientizarea</a:t>
            </a:r>
            <a:r>
              <a:rPr lang="en-US" sz="4800" dirty="0"/>
              <a:t> </a:t>
            </a:r>
            <a:r>
              <a:rPr lang="en-US" sz="4800" dirty="0" err="1"/>
              <a:t>Stocarii</a:t>
            </a:r>
            <a:r>
              <a:rPr lang="en-US" sz="4800" dirty="0"/>
              <a:t> </a:t>
            </a:r>
            <a:r>
              <a:rPr lang="en-US" sz="4800" dirty="0" err="1"/>
              <a:t>Datelor</a:t>
            </a:r>
            <a:r>
              <a:rPr lang="en-US" sz="4800" dirty="0"/>
              <a:t> de Tip Serie </a:t>
            </a:r>
            <a:r>
              <a:rPr lang="en-US" sz="4800" dirty="0" err="1"/>
              <a:t>Temporale</a:t>
            </a:r>
            <a:r>
              <a:rPr lang="en-US" sz="4800" dirty="0"/>
              <a:t> </a:t>
            </a:r>
            <a:r>
              <a:rPr lang="en-US" sz="4800" dirty="0" err="1"/>
              <a:t>utilizand</a:t>
            </a:r>
            <a:r>
              <a:rPr lang="en-US" sz="4800" dirty="0"/>
              <a:t> </a:t>
            </a:r>
            <a:r>
              <a:rPr lang="en-US" sz="4800" dirty="0" err="1"/>
              <a:t>Algoritmul</a:t>
            </a:r>
            <a:r>
              <a:rPr lang="en-US" sz="4800" dirty="0"/>
              <a:t> Gorilla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4A84E1-2AE2-04E7-82AA-24050CB56F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969846"/>
            <a:ext cx="9144000" cy="2287954"/>
          </a:xfrm>
        </p:spPr>
        <p:txBody>
          <a:bodyPr/>
          <a:lstStyle/>
          <a:p>
            <a:r>
              <a:rPr lang="en-US" dirty="0" err="1"/>
              <a:t>Implementarea</a:t>
            </a:r>
            <a:r>
              <a:rPr lang="en-US" dirty="0"/>
              <a:t> Standard vs. </a:t>
            </a:r>
            <a:r>
              <a:rPr lang="en-US" dirty="0" err="1"/>
              <a:t>Optimizarea</a:t>
            </a:r>
            <a:r>
              <a:rPr lang="en-US" dirty="0"/>
              <a:t> </a:t>
            </a:r>
            <a:r>
              <a:rPr lang="en-US" dirty="0" err="1"/>
              <a:t>Proactiva</a:t>
            </a:r>
            <a:r>
              <a:rPr lang="en-US" dirty="0"/>
              <a:t> a </a:t>
            </a:r>
            <a:r>
              <a:rPr lang="en-US" dirty="0" err="1"/>
              <a:t>Ferestrei</a:t>
            </a:r>
            <a:r>
              <a:rPr lang="en-US" dirty="0"/>
              <a:t> XOR</a:t>
            </a:r>
          </a:p>
          <a:p>
            <a:endParaRPr lang="en-US" dirty="0"/>
          </a:p>
          <a:p>
            <a:r>
              <a:rPr lang="en-US" dirty="0" err="1"/>
              <a:t>Muscalu</a:t>
            </a:r>
            <a:r>
              <a:rPr lang="en-US" dirty="0"/>
              <a:t> David</a:t>
            </a:r>
          </a:p>
          <a:p>
            <a:r>
              <a:rPr lang="en-US" dirty="0"/>
              <a:t>Dima Cristian</a:t>
            </a:r>
          </a:p>
        </p:txBody>
      </p:sp>
    </p:spTree>
    <p:extLst>
      <p:ext uri="{BB962C8B-B14F-4D97-AF65-F5344CB8AC3E}">
        <p14:creationId xmlns:p14="http://schemas.microsoft.com/office/powerpoint/2010/main" val="36617683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8940C8-8700-B3D3-733D-A114F069D4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Introducere</a:t>
            </a:r>
            <a:r>
              <a:rPr lang="en-US" dirty="0"/>
              <a:t> </a:t>
            </a:r>
            <a:r>
              <a:rPr lang="en-US" dirty="0" err="1"/>
              <a:t>și</a:t>
            </a:r>
            <a:r>
              <a:rPr lang="en-US" dirty="0"/>
              <a:t> Context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89871D-86C0-D18F-DF07-EEA0D446C3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4"/>
            <a:ext cx="10058400" cy="4023360"/>
          </a:xfrm>
        </p:spPr>
        <p:txBody>
          <a:bodyPr>
            <a:normAutofit/>
          </a:bodyPr>
          <a:lstStyle/>
          <a:p>
            <a:endParaRPr lang="en-US" sz="1800" b="1" dirty="0"/>
          </a:p>
          <a:p>
            <a:endParaRPr lang="en-US" sz="1800" b="1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800" b="1" dirty="0" err="1"/>
              <a:t>Problema</a:t>
            </a:r>
            <a:r>
              <a:rPr lang="en-US" sz="1800" b="1" dirty="0"/>
              <a:t>:</a:t>
            </a:r>
            <a:r>
              <a:rPr lang="en-US" sz="1800" dirty="0"/>
              <a:t> </a:t>
            </a:r>
            <a:r>
              <a:rPr lang="en-US" sz="1800" dirty="0" err="1"/>
              <a:t>Volumul</a:t>
            </a:r>
            <a:r>
              <a:rPr lang="en-US" sz="1800" dirty="0"/>
              <a:t> </a:t>
            </a:r>
            <a:r>
              <a:rPr lang="en-US" sz="1800" dirty="0" err="1"/>
              <a:t>masiv</a:t>
            </a:r>
            <a:r>
              <a:rPr lang="en-US" sz="1800" dirty="0"/>
              <a:t> de date generate </a:t>
            </a:r>
            <a:r>
              <a:rPr lang="en-US" sz="1800" dirty="0" err="1"/>
              <a:t>zilnic</a:t>
            </a:r>
            <a:r>
              <a:rPr lang="en-US" sz="1800" dirty="0"/>
              <a:t>(CPU usage, </a:t>
            </a:r>
            <a:r>
              <a:rPr lang="en-US" sz="1800" dirty="0" err="1"/>
              <a:t>temperaturi</a:t>
            </a:r>
            <a:r>
              <a:rPr lang="en-US" sz="1800" dirty="0"/>
              <a:t>, Twitter metrics, etc.)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b="1" dirty="0" err="1"/>
              <a:t>Necesitate</a:t>
            </a:r>
            <a:r>
              <a:rPr lang="en-US" sz="1800" b="1" dirty="0"/>
              <a:t>:</a:t>
            </a:r>
            <a:r>
              <a:rPr lang="en-US" sz="1800" dirty="0"/>
              <a:t> </a:t>
            </a:r>
            <a:r>
              <a:rPr lang="en-US" sz="1800" dirty="0" err="1"/>
              <a:t>Stocarea</a:t>
            </a:r>
            <a:r>
              <a:rPr lang="en-US" sz="1800" dirty="0"/>
              <a:t> </a:t>
            </a:r>
            <a:r>
              <a:rPr lang="en-US" sz="1800" dirty="0" err="1"/>
              <a:t>eficientă</a:t>
            </a:r>
            <a:r>
              <a:rPr lang="en-US" sz="1800" dirty="0"/>
              <a:t> </a:t>
            </a:r>
            <a:r>
              <a:rPr lang="en-US" sz="1800" dirty="0" err="1"/>
              <a:t>în</a:t>
            </a:r>
            <a:r>
              <a:rPr lang="en-US" sz="1800" dirty="0"/>
              <a:t> </a:t>
            </a:r>
            <a:r>
              <a:rPr lang="en-US" sz="1800" dirty="0" err="1"/>
              <a:t>timp</a:t>
            </a:r>
            <a:r>
              <a:rPr lang="en-US" sz="1800" dirty="0"/>
              <a:t> real (TSDB - Time Series Databases).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b="1" dirty="0" err="1"/>
              <a:t>Soluția</a:t>
            </a:r>
            <a:r>
              <a:rPr lang="en-US" sz="1800" b="1" dirty="0"/>
              <a:t>:</a:t>
            </a:r>
            <a:r>
              <a:rPr lang="en-US" sz="1800" dirty="0"/>
              <a:t> </a:t>
            </a:r>
            <a:r>
              <a:rPr lang="en-US" sz="1800" dirty="0" err="1"/>
              <a:t>Algoritmul</a:t>
            </a:r>
            <a:r>
              <a:rPr lang="en-US" sz="1800" dirty="0"/>
              <a:t> Gorilla (</a:t>
            </a:r>
            <a:r>
              <a:rPr lang="en-US" sz="1800" dirty="0" err="1"/>
              <a:t>creat</a:t>
            </a:r>
            <a:r>
              <a:rPr lang="en-US" sz="1800" dirty="0"/>
              <a:t> de Facebook) </a:t>
            </a:r>
            <a:r>
              <a:rPr lang="en-US" sz="1800" dirty="0" err="1"/>
              <a:t>pentru</a:t>
            </a:r>
            <a:r>
              <a:rPr lang="en-US" sz="1800" dirty="0"/>
              <a:t> </a:t>
            </a:r>
            <a:r>
              <a:rPr lang="en-US" sz="1800" dirty="0" err="1"/>
              <a:t>compresia</a:t>
            </a:r>
            <a:r>
              <a:rPr lang="en-US" sz="1800" dirty="0"/>
              <a:t> </a:t>
            </a:r>
            <a:r>
              <a:rPr lang="en-US" sz="1800" dirty="0" err="1"/>
              <a:t>valorilor</a:t>
            </a:r>
            <a:r>
              <a:rPr lang="en-US" sz="1800" dirty="0"/>
              <a:t> float64 </a:t>
            </a:r>
            <a:r>
              <a:rPr lang="en-US" sz="1800" dirty="0" err="1"/>
              <a:t>fără</a:t>
            </a:r>
            <a:r>
              <a:rPr lang="en-US" sz="1800" dirty="0"/>
              <a:t> </a:t>
            </a:r>
            <a:r>
              <a:rPr lang="en-US" sz="1800" dirty="0" err="1"/>
              <a:t>pierderi</a:t>
            </a:r>
            <a:r>
              <a:rPr lang="en-US" sz="1800" dirty="0"/>
              <a:t> (lossless).</a:t>
            </a:r>
          </a:p>
        </p:txBody>
      </p:sp>
    </p:spTree>
    <p:extLst>
      <p:ext uri="{BB962C8B-B14F-4D97-AF65-F5344CB8AC3E}">
        <p14:creationId xmlns:p14="http://schemas.microsoft.com/office/powerpoint/2010/main" val="32277372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8A4246-B9CB-532E-844A-0DFC9E168A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Arhitectura</a:t>
            </a:r>
            <a:r>
              <a:rPr lang="en-US" dirty="0"/>
              <a:t> standard a </a:t>
            </a:r>
            <a:r>
              <a:rPr lang="en-US" dirty="0" err="1"/>
              <a:t>algoritmului</a:t>
            </a:r>
            <a:r>
              <a:rPr lang="en-US" dirty="0"/>
              <a:t> Gorilla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C2049C-4FC1-BE3B-C086-0F89503A7F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De la Timestamp Brut la Delta-of-Delta:</a:t>
            </a:r>
          </a:p>
          <a:p>
            <a:pPr marL="0" indent="0">
              <a:buNone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 Timestamp-ul UNIX (64 </a:t>
            </a:r>
            <a:r>
              <a:rPr lang="en-US" sz="1800" dirty="0" err="1"/>
              <a:t>biți</a:t>
            </a:r>
            <a:r>
              <a:rPr lang="en-US" sz="1800" dirty="0"/>
              <a:t>): </a:t>
            </a:r>
            <a:r>
              <a:rPr lang="en-US" sz="1800" dirty="0" err="1"/>
              <a:t>Reprezintă</a:t>
            </a:r>
            <a:r>
              <a:rPr lang="en-US" sz="1800" dirty="0"/>
              <a:t> </a:t>
            </a:r>
            <a:r>
              <a:rPr lang="en-US" sz="1800" dirty="0" err="1"/>
              <a:t>numărul</a:t>
            </a:r>
            <a:r>
              <a:rPr lang="en-US" sz="1800" dirty="0"/>
              <a:t> de </a:t>
            </a:r>
            <a:r>
              <a:rPr lang="en-US" sz="1800" dirty="0" err="1"/>
              <a:t>milisecunde</a:t>
            </a:r>
            <a:r>
              <a:rPr lang="en-US" sz="1800" dirty="0"/>
              <a:t> de la 1 </a:t>
            </a:r>
            <a:r>
              <a:rPr lang="en-US" sz="1800" dirty="0" err="1"/>
              <a:t>ianuarie</a:t>
            </a:r>
            <a:r>
              <a:rPr lang="en-US" sz="1800" dirty="0"/>
              <a:t> 1970 (ex: 1424986973000). </a:t>
            </a:r>
            <a:r>
              <a:rPr lang="en-US" sz="1800" dirty="0" err="1"/>
              <a:t>Stocarea</a:t>
            </a:r>
            <a:r>
              <a:rPr lang="en-US" sz="1800" dirty="0"/>
              <a:t> </a:t>
            </a:r>
            <a:r>
              <a:rPr lang="en-US" sz="1800" dirty="0" err="1"/>
              <a:t>brută</a:t>
            </a:r>
            <a:r>
              <a:rPr lang="en-US" sz="1800" dirty="0"/>
              <a:t> a </a:t>
            </a:r>
            <a:r>
              <a:rPr lang="en-US" sz="1800" dirty="0" err="1"/>
              <a:t>acestor</a:t>
            </a:r>
            <a:r>
              <a:rPr lang="en-US" sz="1800" dirty="0"/>
              <a:t> </a:t>
            </a:r>
            <a:r>
              <a:rPr lang="en-US" sz="1800" dirty="0" err="1"/>
              <a:t>numere</a:t>
            </a:r>
            <a:r>
              <a:rPr lang="en-US" sz="1800" dirty="0"/>
              <a:t> </a:t>
            </a:r>
            <a:r>
              <a:rPr lang="en-US" sz="1800" dirty="0" err="1"/>
              <a:t>mari</a:t>
            </a:r>
            <a:r>
              <a:rPr lang="en-US" sz="1800" dirty="0"/>
              <a:t> </a:t>
            </a:r>
            <a:r>
              <a:rPr lang="en-US" sz="1800" dirty="0" err="1"/>
              <a:t>este</a:t>
            </a:r>
            <a:r>
              <a:rPr lang="en-US" sz="1800" dirty="0"/>
              <a:t> </a:t>
            </a:r>
            <a:r>
              <a:rPr lang="en-US" sz="1800" dirty="0" err="1"/>
              <a:t>ineficientă</a:t>
            </a:r>
            <a:r>
              <a:rPr lang="en-US" sz="1800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 Delta: </a:t>
            </a:r>
            <a:r>
              <a:rPr lang="en-US" sz="1800" dirty="0" err="1"/>
              <a:t>În</a:t>
            </a:r>
            <a:r>
              <a:rPr lang="en-US" sz="1800" dirty="0"/>
              <a:t> loc de </a:t>
            </a:r>
            <a:r>
              <a:rPr lang="en-US" sz="1800" dirty="0" err="1"/>
              <a:t>valoarea</a:t>
            </a:r>
            <a:r>
              <a:rPr lang="en-US" sz="1800" dirty="0"/>
              <a:t> </a:t>
            </a:r>
            <a:r>
              <a:rPr lang="en-US" sz="1800" dirty="0" err="1"/>
              <a:t>absolută</a:t>
            </a:r>
            <a:r>
              <a:rPr lang="en-US" sz="1800" dirty="0"/>
              <a:t>, </a:t>
            </a:r>
            <a:r>
              <a:rPr lang="en-US" sz="1800" dirty="0" err="1"/>
              <a:t>stocăm</a:t>
            </a:r>
            <a:r>
              <a:rPr lang="en-US" sz="1800" dirty="0"/>
              <a:t> </a:t>
            </a:r>
            <a:r>
              <a:rPr lang="en-US" sz="1800" dirty="0" err="1"/>
              <a:t>diferența</a:t>
            </a:r>
            <a:r>
              <a:rPr lang="en-US" sz="1800" dirty="0"/>
              <a:t> de </a:t>
            </a:r>
            <a:r>
              <a:rPr lang="en-US" sz="1800" dirty="0" err="1"/>
              <a:t>timp</a:t>
            </a:r>
            <a:r>
              <a:rPr lang="en-US" sz="1800" dirty="0"/>
              <a:t> </a:t>
            </a:r>
            <a:r>
              <a:rPr lang="en-US" sz="1800" dirty="0" err="1"/>
              <a:t>dintre</a:t>
            </a:r>
            <a:r>
              <a:rPr lang="en-US" sz="1800" dirty="0"/>
              <a:t> </a:t>
            </a:r>
            <a:r>
              <a:rPr lang="en-US" sz="1800" dirty="0" err="1"/>
              <a:t>două</a:t>
            </a:r>
            <a:r>
              <a:rPr lang="en-US" sz="1800" dirty="0"/>
              <a:t> </a:t>
            </a:r>
            <a:r>
              <a:rPr lang="en-US" sz="1800" dirty="0" err="1"/>
              <a:t>puncte</a:t>
            </a:r>
            <a:r>
              <a:rPr lang="en-US" sz="1800" dirty="0"/>
              <a:t> consecutive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 Delta of Delta: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Reprezintă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variația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intervalului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de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eșantionare</a:t>
            </a:r>
            <a:r>
              <a:rPr lang="en-US" altLang="en-US" sz="1800" dirty="0">
                <a:latin typeface="Arial" panose="020B0604020202020204" pitchFamily="34" charset="0"/>
              </a:rPr>
              <a:t>.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Dacă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datele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sosesc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la intervale </a:t>
            </a:r>
          </a:p>
          <a:p>
            <a:pPr marL="0" indent="0">
              <a:buNone/>
            </a:pPr>
            <a:r>
              <a:rPr lang="en-US" altLang="en-US" sz="1800" dirty="0"/>
              <a:t>  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fixe delta of delta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devine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0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5756941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BCEA1-B6CA-F760-3E83-8499E997BC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 err="1"/>
              <a:t>Procesul</a:t>
            </a:r>
            <a:r>
              <a:rPr lang="en-US" sz="2400" dirty="0"/>
              <a:t> de </a:t>
            </a:r>
            <a:r>
              <a:rPr lang="en-US" sz="2400" dirty="0" err="1"/>
              <a:t>Compresie</a:t>
            </a:r>
            <a:r>
              <a:rPr lang="en-US" sz="2400" dirty="0"/>
              <a:t> XOR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0222C0-E363-7004-C71C-A87A1EA1B4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</a:t>
            </a:r>
            <a:r>
              <a:rPr lang="en-US" altLang="en-US" sz="1800" dirty="0" err="1">
                <a:solidFill>
                  <a:schemeClr val="tx1"/>
                </a:solidFill>
                <a:latin typeface="Google Sans Text"/>
              </a:rPr>
              <a:t>Calculul</a:t>
            </a:r>
            <a:r>
              <a:rPr lang="en-US" altLang="en-US" sz="1800" dirty="0">
                <a:solidFill>
                  <a:schemeClr val="tx1"/>
                </a:solidFill>
                <a:latin typeface="Google Sans Text"/>
              </a:rPr>
              <a:t> </a:t>
            </a:r>
            <a:r>
              <a:rPr lang="en-US" altLang="en-US" sz="1800" dirty="0" err="1">
                <a:solidFill>
                  <a:schemeClr val="tx1"/>
                </a:solidFill>
                <a:latin typeface="Google Sans Text"/>
              </a:rPr>
              <a:t>Diferenței</a:t>
            </a:r>
            <a:r>
              <a:rPr lang="en-US" altLang="en-US" sz="1800" dirty="0">
                <a:solidFill>
                  <a:schemeClr val="tx1"/>
                </a:solidFill>
                <a:latin typeface="Google Sans Text"/>
              </a:rPr>
              <a:t>:</a:t>
            </a:r>
            <a:r>
              <a:rPr lang="en-US" altLang="en-US" sz="1800" dirty="0">
                <a:solidFill>
                  <a:schemeClr val="tx1"/>
                </a:solidFill>
              </a:rPr>
              <a:t> Se </a:t>
            </a:r>
            <a:r>
              <a:rPr lang="en-US" altLang="en-US" sz="1800" dirty="0" err="1">
                <a:solidFill>
                  <a:schemeClr val="tx1"/>
                </a:solidFill>
              </a:rPr>
              <a:t>efectuează</a:t>
            </a:r>
            <a:r>
              <a:rPr lang="en-US" altLang="en-US" sz="1800" dirty="0">
                <a:solidFill>
                  <a:schemeClr val="tx1"/>
                </a:solidFill>
              </a:rPr>
              <a:t> </a:t>
            </a:r>
            <a:r>
              <a:rPr lang="en-US" altLang="en-US" sz="1800" dirty="0" err="1">
                <a:solidFill>
                  <a:schemeClr val="tx1"/>
                </a:solidFill>
              </a:rPr>
              <a:t>operația</a:t>
            </a:r>
            <a:r>
              <a:rPr lang="en-US" altLang="en-US" sz="1800" dirty="0">
                <a:solidFill>
                  <a:schemeClr val="tx1"/>
                </a:solidFill>
              </a:rPr>
              <a:t> </a:t>
            </a:r>
            <a:r>
              <a:rPr lang="en-US" altLang="en-US" sz="1800" dirty="0">
                <a:solidFill>
                  <a:schemeClr val="tx1"/>
                </a:solidFill>
                <a:latin typeface="Google Sans Text"/>
              </a:rPr>
              <a:t>XOR</a:t>
            </a:r>
            <a:r>
              <a:rPr lang="en-US" altLang="en-US" sz="1800" dirty="0">
                <a:solidFill>
                  <a:schemeClr val="tx1"/>
                </a:solidFill>
              </a:rPr>
              <a:t> </a:t>
            </a:r>
            <a:r>
              <a:rPr lang="en-US" altLang="en-US" sz="1800" dirty="0" err="1">
                <a:solidFill>
                  <a:schemeClr val="tx1"/>
                </a:solidFill>
              </a:rPr>
              <a:t>între</a:t>
            </a:r>
            <a:r>
              <a:rPr lang="en-US" altLang="en-US" sz="1800" dirty="0">
                <a:solidFill>
                  <a:schemeClr val="tx1"/>
                </a:solidFill>
              </a:rPr>
              <a:t> </a:t>
            </a:r>
            <a:r>
              <a:rPr lang="en-US" altLang="en-US" sz="1800" dirty="0" err="1">
                <a:solidFill>
                  <a:schemeClr val="tx1"/>
                </a:solidFill>
              </a:rPr>
              <a:t>valoarea</a:t>
            </a:r>
            <a:r>
              <a:rPr lang="en-US" altLang="en-US" sz="1800" dirty="0">
                <a:solidFill>
                  <a:schemeClr val="tx1"/>
                </a:solidFill>
              </a:rPr>
              <a:t> </a:t>
            </a:r>
            <a:r>
              <a:rPr lang="en-US" altLang="en-US" sz="1800" dirty="0" err="1">
                <a:solidFill>
                  <a:schemeClr val="tx1"/>
                </a:solidFill>
              </a:rPr>
              <a:t>curentă</a:t>
            </a:r>
            <a:r>
              <a:rPr lang="en-US" altLang="en-US" sz="1800" dirty="0">
                <a:solidFill>
                  <a:schemeClr val="tx1"/>
                </a:solidFill>
              </a:rPr>
              <a:t> </a:t>
            </a:r>
            <a:r>
              <a:rPr lang="en-US" altLang="en-US" sz="1800" dirty="0" err="1">
                <a:solidFill>
                  <a:schemeClr val="tx1"/>
                </a:solidFill>
              </a:rPr>
              <a:t>și</a:t>
            </a:r>
            <a:r>
              <a:rPr lang="en-US" altLang="en-US" sz="1800" dirty="0">
                <a:solidFill>
                  <a:schemeClr val="tx1"/>
                </a:solidFill>
              </a:rPr>
              <a:t> </a:t>
            </a:r>
            <a:r>
              <a:rPr lang="en-US" altLang="en-US" sz="1800" dirty="0" err="1">
                <a:solidFill>
                  <a:schemeClr val="tx1"/>
                </a:solidFill>
              </a:rPr>
              <a:t>cea</a:t>
            </a:r>
            <a:r>
              <a:rPr lang="en-US" altLang="en-US" sz="1800" dirty="0">
                <a:solidFill>
                  <a:schemeClr val="tx1"/>
                </a:solidFill>
              </a:rPr>
              <a:t> </a:t>
            </a:r>
            <a:r>
              <a:rPr lang="en-US" altLang="en-US" sz="1800" dirty="0" err="1">
                <a:solidFill>
                  <a:schemeClr val="tx1"/>
                </a:solidFill>
              </a:rPr>
              <a:t>precedentă</a:t>
            </a:r>
            <a:r>
              <a:rPr lang="en-US" altLang="en-US" sz="1800" dirty="0">
                <a:solidFill>
                  <a:schemeClr val="tx1"/>
                </a:solidFill>
              </a:rPr>
              <a:t>.</a:t>
            </a:r>
            <a:endParaRPr lang="en-US" altLang="en-US" sz="18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 </a:t>
            </a:r>
            <a:r>
              <a:rPr lang="en-US" sz="1800" dirty="0" err="1"/>
              <a:t>Identificarea</a:t>
            </a:r>
            <a:r>
              <a:rPr lang="en-US" sz="1800" dirty="0"/>
              <a:t> </a:t>
            </a:r>
            <a:r>
              <a:rPr lang="en-US" sz="1800" dirty="0" err="1"/>
              <a:t>Biților</a:t>
            </a:r>
            <a:r>
              <a:rPr lang="en-US" sz="1800" dirty="0"/>
              <a:t> </a:t>
            </a:r>
            <a:r>
              <a:rPr lang="en-US" sz="1800" dirty="0" err="1"/>
              <a:t>Semnificativi</a:t>
            </a:r>
            <a:r>
              <a:rPr lang="en-US" sz="1800" dirty="0"/>
              <a:t>: Se </a:t>
            </a:r>
            <a:r>
              <a:rPr lang="en-US" sz="1800" dirty="0" err="1"/>
              <a:t>elimină</a:t>
            </a:r>
            <a:r>
              <a:rPr lang="en-US" sz="1800" dirty="0"/>
              <a:t> </a:t>
            </a:r>
            <a:r>
              <a:rPr lang="en-US" sz="1800" dirty="0" err="1"/>
              <a:t>zerourile</a:t>
            </a:r>
            <a:r>
              <a:rPr lang="en-US" sz="1800" dirty="0"/>
              <a:t> de la </a:t>
            </a:r>
            <a:r>
              <a:rPr lang="en-US" sz="1800" dirty="0" err="1"/>
              <a:t>început</a:t>
            </a:r>
            <a:r>
              <a:rPr lang="en-US" sz="1800" dirty="0"/>
              <a:t> </a:t>
            </a:r>
            <a:r>
              <a:rPr lang="en-US" sz="1800" dirty="0" err="1"/>
              <a:t>și</a:t>
            </a:r>
            <a:r>
              <a:rPr lang="en-US" sz="1800" dirty="0"/>
              <a:t> de la final.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 err="1"/>
              <a:t>Exemplu</a:t>
            </a:r>
            <a:r>
              <a:rPr lang="en-US" sz="1800" dirty="0"/>
              <a:t>:</a:t>
            </a:r>
          </a:p>
          <a:p>
            <a:pPr marL="0" indent="0">
              <a:buNone/>
            </a:pPr>
            <a:r>
              <a:rPr lang="en-US" sz="1800" dirty="0"/>
              <a:t>       22.5: 01000000 00110110 10000000 00000000 00000000 00000000 00000000 00000000</a:t>
            </a:r>
          </a:p>
          <a:p>
            <a:pPr marL="0" indent="0">
              <a:buNone/>
            </a:pPr>
            <a:r>
              <a:rPr lang="en-US" sz="1800" dirty="0"/>
              <a:t>       22.6: 01000000 00110110 10011001 10011001 10011001 10011001 10011001 10011010</a:t>
            </a:r>
          </a:p>
          <a:p>
            <a:pPr marL="0" indent="0">
              <a:buNone/>
            </a:pPr>
            <a:r>
              <a:rPr lang="en-US" sz="1800" dirty="0"/>
              <a:t>       </a:t>
            </a:r>
            <a:r>
              <a:rPr lang="en-US" sz="1800" dirty="0" err="1"/>
              <a:t>Aplicam</a:t>
            </a:r>
            <a:r>
              <a:rPr lang="en-US" sz="1800" dirty="0"/>
              <a:t> XOR: 00000000 00000000 00010011001 10011001 10011001 10011001 10011001 10011010</a:t>
            </a:r>
          </a:p>
          <a:p>
            <a:pPr marL="0" indent="0">
              <a:buNone/>
            </a:pPr>
            <a:r>
              <a:rPr lang="en-US" sz="1800" dirty="0"/>
              <a:t>       Biti </a:t>
            </a:r>
            <a:r>
              <a:rPr lang="en-US" sz="1800" dirty="0" err="1"/>
              <a:t>semnificativi</a:t>
            </a:r>
            <a:r>
              <a:rPr lang="en-US" sz="1800" dirty="0"/>
              <a:t>: 10011001 10011001 10011001 10011001 10011001 10011010</a:t>
            </a:r>
          </a:p>
          <a:p>
            <a:pPr marL="0" indent="0">
              <a:buNone/>
            </a:pPr>
            <a:r>
              <a:rPr lang="en-US" sz="1800" dirty="0"/>
              <a:t>	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2733762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492FF7-CF7D-23CB-5341-45326FD9B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Optimizarea</a:t>
            </a:r>
            <a:r>
              <a:rPr lang="en-US" dirty="0"/>
              <a:t> </a:t>
            </a:r>
            <a:r>
              <a:rPr lang="en-US" dirty="0" err="1"/>
              <a:t>Propusă</a:t>
            </a:r>
            <a:r>
              <a:rPr lang="en-US" dirty="0"/>
              <a:t> (Logica de 11 </a:t>
            </a:r>
            <a:r>
              <a:rPr lang="en-US" dirty="0" err="1"/>
              <a:t>Biți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C6F606-CAF7-1F41-67EB-425C77B3F9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</a:t>
            </a:r>
            <a:r>
              <a:rPr lang="en-US" sz="1800" dirty="0" err="1"/>
              <a:t>Inovația</a:t>
            </a:r>
            <a:r>
              <a:rPr lang="en-US" sz="1800" dirty="0"/>
              <a:t>: </a:t>
            </a:r>
            <a:r>
              <a:rPr lang="en-US" sz="1800" dirty="0" err="1"/>
              <a:t>Introducerea</a:t>
            </a:r>
            <a:r>
              <a:rPr lang="en-US" sz="1800" dirty="0"/>
              <a:t> </a:t>
            </a:r>
            <a:r>
              <a:rPr lang="en-US" sz="1800" dirty="0" err="1"/>
              <a:t>unei</a:t>
            </a:r>
            <a:r>
              <a:rPr lang="en-US" sz="1800" dirty="0"/>
              <a:t> </a:t>
            </a:r>
            <a:r>
              <a:rPr lang="en-US" sz="1800" dirty="0" err="1"/>
              <a:t>decizii</a:t>
            </a:r>
            <a:r>
              <a:rPr lang="en-US" sz="1800" dirty="0"/>
              <a:t> proactive de </a:t>
            </a:r>
            <a:r>
              <a:rPr lang="en-US" sz="1800" dirty="0" err="1"/>
              <a:t>micșorare</a:t>
            </a:r>
            <a:r>
              <a:rPr lang="en-US" sz="1800" dirty="0"/>
              <a:t> a </a:t>
            </a:r>
            <a:r>
              <a:rPr lang="en-US" sz="1800" dirty="0" err="1"/>
              <a:t>ferestrei</a:t>
            </a:r>
            <a:r>
              <a:rPr lang="en-US" sz="1800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 </a:t>
            </a:r>
            <a:r>
              <a:rPr lang="en-US" sz="1800" dirty="0" err="1"/>
              <a:t>Condiția</a:t>
            </a:r>
            <a:r>
              <a:rPr lang="en-US" sz="1800" dirty="0"/>
              <a:t>: </a:t>
            </a:r>
            <a:r>
              <a:rPr lang="en-US" sz="1800" dirty="0" err="1"/>
              <a:t>Dacă</a:t>
            </a:r>
            <a:r>
              <a:rPr lang="en-US" sz="1800" dirty="0"/>
              <a:t> </a:t>
            </a:r>
            <a:r>
              <a:rPr lang="en-US" sz="1800" dirty="0" err="1"/>
              <a:t>noua</a:t>
            </a:r>
            <a:r>
              <a:rPr lang="en-US" sz="1800" dirty="0"/>
              <a:t> </a:t>
            </a:r>
            <a:r>
              <a:rPr lang="en-US" sz="1800" dirty="0" err="1"/>
              <a:t>fereastră</a:t>
            </a:r>
            <a:r>
              <a:rPr lang="en-US" sz="1800" dirty="0"/>
              <a:t> de </a:t>
            </a:r>
            <a:r>
              <a:rPr lang="en-US" sz="1800" dirty="0" err="1"/>
              <a:t>biți</a:t>
            </a:r>
            <a:r>
              <a:rPr lang="en-US" sz="1800" dirty="0"/>
              <a:t> </a:t>
            </a:r>
            <a:r>
              <a:rPr lang="en-US" sz="1800" dirty="0" err="1"/>
              <a:t>semnificativi</a:t>
            </a:r>
            <a:r>
              <a:rPr lang="en-US" sz="1800" dirty="0"/>
              <a:t> </a:t>
            </a:r>
            <a:r>
              <a:rPr lang="en-US" sz="1800" dirty="0" err="1"/>
              <a:t>este</a:t>
            </a:r>
            <a:r>
              <a:rPr lang="en-US" sz="1800" dirty="0"/>
              <a:t> </a:t>
            </a:r>
            <a:r>
              <a:rPr lang="en-US" sz="1800" dirty="0" err="1"/>
              <a:t>mai</a:t>
            </a:r>
            <a:r>
              <a:rPr lang="en-US" sz="1800" dirty="0"/>
              <a:t> </a:t>
            </a:r>
            <a:r>
              <a:rPr lang="en-US" sz="1800" dirty="0" err="1"/>
              <a:t>mică</a:t>
            </a:r>
            <a:r>
              <a:rPr lang="en-US" sz="1800" dirty="0"/>
              <a:t> cu </a:t>
            </a:r>
            <a:r>
              <a:rPr lang="en-US" sz="1800" b="1" dirty="0" err="1"/>
              <a:t>peste</a:t>
            </a:r>
            <a:r>
              <a:rPr lang="en-US" sz="1800" b="1" dirty="0"/>
              <a:t> 11 </a:t>
            </a:r>
            <a:r>
              <a:rPr lang="en-US" sz="1800" b="1" dirty="0" err="1"/>
              <a:t>biți</a:t>
            </a:r>
            <a:r>
              <a:rPr lang="en-US" sz="1800" dirty="0"/>
              <a:t> </a:t>
            </a:r>
            <a:r>
              <a:rPr lang="en-US" sz="1800" dirty="0" err="1"/>
              <a:t>decât</a:t>
            </a:r>
            <a:r>
              <a:rPr lang="en-US" sz="1800" dirty="0"/>
              <a:t> </a:t>
            </a:r>
            <a:r>
              <a:rPr lang="en-US" sz="1800" dirty="0" err="1"/>
              <a:t>cea</a:t>
            </a:r>
            <a:r>
              <a:rPr lang="en-US" sz="1800" dirty="0"/>
              <a:t> </a:t>
            </a:r>
            <a:r>
              <a:rPr lang="en-US" sz="1800" dirty="0" err="1"/>
              <a:t>curentă</a:t>
            </a:r>
            <a:r>
              <a:rPr lang="en-US" sz="1800" dirty="0"/>
              <a:t>, </a:t>
            </a:r>
            <a:r>
              <a:rPr lang="en-US" sz="1800" dirty="0" err="1"/>
              <a:t>algoritmul</a:t>
            </a:r>
            <a:r>
              <a:rPr lang="en-US" sz="1800" dirty="0"/>
              <a:t> </a:t>
            </a:r>
            <a:r>
              <a:rPr lang="en-US" sz="1800" dirty="0" err="1"/>
              <a:t>forțează</a:t>
            </a:r>
            <a:r>
              <a:rPr lang="en-US" sz="1800" dirty="0"/>
              <a:t> </a:t>
            </a:r>
            <a:r>
              <a:rPr lang="en-US" sz="1800" dirty="0" err="1"/>
              <a:t>crearea</a:t>
            </a:r>
            <a:r>
              <a:rPr lang="en-US" sz="1800" dirty="0"/>
              <a:t> </a:t>
            </a:r>
            <a:r>
              <a:rPr lang="en-US" sz="1800" dirty="0" err="1"/>
              <a:t>unei</a:t>
            </a:r>
            <a:r>
              <a:rPr lang="en-US" sz="1800" dirty="0"/>
              <a:t> </a:t>
            </a:r>
            <a:r>
              <a:rPr lang="en-US" sz="1800" dirty="0" err="1"/>
              <a:t>ferestre</a:t>
            </a:r>
            <a:r>
              <a:rPr lang="en-US" sz="1800" dirty="0"/>
              <a:t> </a:t>
            </a:r>
            <a:r>
              <a:rPr lang="en-US" sz="1800" dirty="0" err="1"/>
              <a:t>noi</a:t>
            </a:r>
            <a:endParaRPr lang="en-US" sz="18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800" b="1" dirty="0"/>
              <a:t> </a:t>
            </a:r>
            <a:r>
              <a:rPr lang="en-US" sz="1800" dirty="0" err="1"/>
              <a:t>Justificare</a:t>
            </a:r>
            <a:r>
              <a:rPr lang="en-US" sz="1800" dirty="0"/>
              <a:t>: "Taxa" de a </a:t>
            </a:r>
            <a:r>
              <a:rPr lang="en-US" sz="1800" dirty="0" err="1"/>
              <a:t>scrie</a:t>
            </a:r>
            <a:r>
              <a:rPr lang="en-US" sz="1800" dirty="0"/>
              <a:t> un header nou (11 </a:t>
            </a:r>
            <a:r>
              <a:rPr lang="en-US" sz="1800" dirty="0" err="1"/>
              <a:t>biți</a:t>
            </a:r>
            <a:r>
              <a:rPr lang="en-US" sz="1800" dirty="0"/>
              <a:t>) </a:t>
            </a:r>
            <a:r>
              <a:rPr lang="en-US" sz="1800" dirty="0" err="1"/>
              <a:t>este</a:t>
            </a:r>
            <a:r>
              <a:rPr lang="en-US" sz="1800" dirty="0"/>
              <a:t> </a:t>
            </a:r>
            <a:r>
              <a:rPr lang="en-US" sz="1800" dirty="0" err="1"/>
              <a:t>plătită</a:t>
            </a:r>
            <a:r>
              <a:rPr lang="en-US" sz="1800" dirty="0"/>
              <a:t> o </a:t>
            </a:r>
            <a:r>
              <a:rPr lang="en-US" sz="1800" dirty="0" err="1"/>
              <a:t>singură</a:t>
            </a:r>
            <a:r>
              <a:rPr lang="en-US" sz="1800" dirty="0"/>
              <a:t> </a:t>
            </a:r>
            <a:r>
              <a:rPr lang="en-US" sz="1800" dirty="0" err="1"/>
              <a:t>dată</a:t>
            </a:r>
            <a:r>
              <a:rPr lang="en-US" sz="1800" dirty="0"/>
              <a:t> </a:t>
            </a:r>
            <a:r>
              <a:rPr lang="en-US" sz="1800" dirty="0" err="1"/>
              <a:t>pentru</a:t>
            </a:r>
            <a:r>
              <a:rPr lang="en-US" sz="1800" dirty="0"/>
              <a:t> a </a:t>
            </a:r>
            <a:r>
              <a:rPr lang="en-US" sz="1800" dirty="0" err="1"/>
              <a:t>salva</a:t>
            </a:r>
            <a:r>
              <a:rPr lang="en-US" sz="1800" dirty="0"/>
              <a:t> </a:t>
            </a:r>
            <a:r>
              <a:rPr lang="en-US" sz="1800" dirty="0" err="1"/>
              <a:t>spațiu</a:t>
            </a:r>
            <a:r>
              <a:rPr lang="en-US" sz="1800" dirty="0"/>
              <a:t> la </a:t>
            </a:r>
            <a:r>
              <a:rPr lang="en-US" sz="1800" dirty="0" err="1"/>
              <a:t>toate</a:t>
            </a:r>
            <a:r>
              <a:rPr lang="en-US" sz="1800" dirty="0"/>
              <a:t> </a:t>
            </a:r>
            <a:r>
              <a:rPr lang="en-US" sz="1800" dirty="0" err="1"/>
              <a:t>punctele</a:t>
            </a:r>
            <a:r>
              <a:rPr lang="en-US" sz="1800" dirty="0"/>
              <a:t> </a:t>
            </a:r>
            <a:r>
              <a:rPr lang="en-US" sz="1800" dirty="0" err="1"/>
              <a:t>următoare</a:t>
            </a:r>
            <a:endParaRPr lang="en-US" sz="1800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10389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1748ED-6F34-3A13-FD91-718D5A60AF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Structura</a:t>
            </a:r>
            <a:r>
              <a:rPr lang="en-US" dirty="0"/>
              <a:t> </a:t>
            </a:r>
            <a:r>
              <a:rPr lang="en-US" dirty="0" err="1"/>
              <a:t>Implementării</a:t>
            </a:r>
            <a:r>
              <a:rPr lang="en-US" dirty="0"/>
              <a:t> (Software Stack)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24381A-81D6-B4DE-1A2D-223BFF3914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sz="2400" dirty="0" err="1"/>
              <a:t>Componente</a:t>
            </a:r>
            <a:r>
              <a:rPr lang="en-US" sz="2400" dirty="0"/>
              <a:t> </a:t>
            </a:r>
            <a:r>
              <a:rPr lang="en-US" sz="2400" dirty="0" err="1"/>
              <a:t>cheie</a:t>
            </a:r>
            <a:r>
              <a:rPr lang="en-US" sz="2400" dirty="0"/>
              <a:t>:</a:t>
            </a:r>
          </a:p>
          <a:p>
            <a:pPr lvl="3">
              <a:buFont typeface="Arial" panose="020B0604020202020204" pitchFamily="34" charset="0"/>
              <a:buChar char="•"/>
            </a:pPr>
            <a:r>
              <a:rPr lang="es-ES" sz="1800" dirty="0" err="1"/>
              <a:t>BitWriter</a:t>
            </a:r>
            <a:r>
              <a:rPr lang="es-ES" sz="1800" dirty="0"/>
              <a:t> / </a:t>
            </a:r>
            <a:r>
              <a:rPr lang="es-ES" sz="1800" dirty="0" err="1"/>
              <a:t>BitReader</a:t>
            </a:r>
            <a:r>
              <a:rPr lang="es-ES" sz="1800" dirty="0"/>
              <a:t>: </a:t>
            </a:r>
            <a:r>
              <a:rPr lang="es-ES" sz="1800" dirty="0" err="1"/>
              <a:t>Gestionarea</a:t>
            </a:r>
            <a:r>
              <a:rPr lang="es-ES" sz="1800" dirty="0"/>
              <a:t> </a:t>
            </a:r>
            <a:r>
              <a:rPr lang="es-ES" sz="1800" dirty="0" err="1"/>
              <a:t>datelor</a:t>
            </a:r>
            <a:r>
              <a:rPr lang="es-ES" sz="1800" dirty="0"/>
              <a:t> la nivel de bit</a:t>
            </a:r>
          </a:p>
          <a:p>
            <a:pPr lvl="3">
              <a:buFont typeface="Arial" panose="020B0604020202020204" pitchFamily="34" charset="0"/>
              <a:buChar char="•"/>
            </a:pPr>
            <a:r>
              <a:rPr lang="en-US" sz="1800" dirty="0" err="1"/>
              <a:t>ValueEncoder</a:t>
            </a:r>
            <a:r>
              <a:rPr lang="en-US" sz="1800" dirty="0"/>
              <a:t> / </a:t>
            </a:r>
            <a:r>
              <a:rPr lang="en-US" sz="1800" dirty="0" err="1"/>
              <a:t>ValueDecoder</a:t>
            </a:r>
            <a:r>
              <a:rPr lang="en-US" sz="1800" dirty="0"/>
              <a:t>: Logica de </a:t>
            </a:r>
            <a:r>
              <a:rPr lang="en-US" sz="1800" dirty="0" err="1"/>
              <a:t>compresie</a:t>
            </a:r>
            <a:r>
              <a:rPr lang="en-US" sz="1800" dirty="0"/>
              <a:t>/</a:t>
            </a:r>
            <a:r>
              <a:rPr lang="en-US" sz="1800" dirty="0" err="1"/>
              <a:t>decompresie</a:t>
            </a:r>
            <a:r>
              <a:rPr lang="en-US" sz="1800" dirty="0"/>
              <a:t> delta-of-delta </a:t>
            </a:r>
            <a:r>
              <a:rPr lang="en-US" sz="1800" dirty="0" err="1"/>
              <a:t>si</a:t>
            </a:r>
            <a:r>
              <a:rPr lang="en-US" sz="1800" dirty="0"/>
              <a:t> XOR</a:t>
            </a:r>
          </a:p>
          <a:p>
            <a:pPr lvl="3">
              <a:buFont typeface="Arial" panose="020B0604020202020204" pitchFamily="34" charset="0"/>
              <a:buChar char="•"/>
            </a:pPr>
            <a:r>
              <a:rPr lang="it-IT" sz="1800" dirty="0"/>
              <a:t>MultiVariateSeries: Segmentarea datelor în blocuri temporale (ex: 2 ore)</a:t>
            </a:r>
          </a:p>
          <a:p>
            <a:pPr lvl="3">
              <a:buFont typeface="Arial" panose="020B0604020202020204" pitchFamily="34" charset="0"/>
              <a:buChar char="•"/>
            </a:pPr>
            <a:r>
              <a:rPr lang="en-US" sz="1800" dirty="0"/>
              <a:t>Storage: </a:t>
            </a:r>
            <a:r>
              <a:rPr lang="en-US" sz="1800" dirty="0" err="1"/>
              <a:t>Salvarea</a:t>
            </a:r>
            <a:r>
              <a:rPr lang="en-US" sz="1800" dirty="0"/>
              <a:t> </a:t>
            </a:r>
            <a:r>
              <a:rPr lang="en-US" sz="1800" dirty="0" err="1"/>
              <a:t>în</a:t>
            </a:r>
            <a:r>
              <a:rPr lang="en-US" sz="1800" dirty="0"/>
              <a:t> </a:t>
            </a:r>
            <a:r>
              <a:rPr lang="en-US" sz="1800" dirty="0" err="1"/>
              <a:t>folderul</a:t>
            </a:r>
            <a:r>
              <a:rPr lang="en-US" sz="1800" dirty="0"/>
              <a:t> </a:t>
            </a:r>
            <a:r>
              <a:rPr lang="en-US" sz="1800" dirty="0" err="1"/>
              <a:t>compressed_output</a:t>
            </a:r>
            <a:r>
              <a:rPr lang="en-US" sz="1800" dirty="0"/>
              <a:t> (</a:t>
            </a:r>
            <a:r>
              <a:rPr lang="en-US" sz="1800" dirty="0" err="1"/>
              <a:t>fișiere</a:t>
            </a:r>
            <a:r>
              <a:rPr lang="en-US" sz="1800" dirty="0"/>
              <a:t> .bin </a:t>
            </a:r>
            <a:r>
              <a:rPr lang="en-US" sz="1800" dirty="0" err="1"/>
              <a:t>și</a:t>
            </a:r>
            <a:r>
              <a:rPr lang="en-US" sz="1800" dirty="0"/>
              <a:t> .</a:t>
            </a:r>
            <a:r>
              <a:rPr lang="en-US" sz="1800" dirty="0" err="1"/>
              <a:t>json</a:t>
            </a:r>
            <a:r>
              <a:rPr lang="en-US" sz="18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6503273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31C989-3D1A-7014-9325-CDB16835B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Experimente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D84EAC-5134-15DE-9F84-6E231666AE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37918"/>
            <a:ext cx="10058400" cy="402336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lang="en-US" altLang="en-US" b="1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dirty="0" err="1">
                <a:solidFill>
                  <a:schemeClr val="tx1"/>
                </a:solidFill>
                <a:latin typeface="Arial" panose="020B0604020202020204" pitchFamily="34" charset="0"/>
              </a:rPr>
              <a:t>Seturi</a:t>
            </a:r>
            <a:r>
              <a:rPr lang="en-US" altLang="en-US" dirty="0">
                <a:solidFill>
                  <a:schemeClr val="tx1"/>
                </a:solidFill>
                <a:latin typeface="Arial" panose="020B0604020202020204" pitchFamily="34" charset="0"/>
              </a:rPr>
              <a:t> de date </a:t>
            </a:r>
            <a:r>
              <a:rPr lang="en-US" altLang="en-US" dirty="0" err="1">
                <a:solidFill>
                  <a:schemeClr val="tx1"/>
                </a:solidFill>
                <a:latin typeface="Arial" panose="020B0604020202020204" pitchFamily="34" charset="0"/>
              </a:rPr>
              <a:t>utilizate</a:t>
            </a:r>
            <a:r>
              <a:rPr lang="en-US" altLang="en-US" dirty="0">
                <a:solidFill>
                  <a:schemeClr val="tx1"/>
                </a:solidFill>
                <a:latin typeface="Arial" panose="020B0604020202020204" pitchFamily="34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lang="en-US" altLang="en-US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</a:pPr>
            <a:r>
              <a:rPr lang="en-US" altLang="en-US" sz="1800" dirty="0">
                <a:solidFill>
                  <a:schemeClr val="tx1"/>
                </a:solidFill>
                <a:latin typeface="Arial Unicode MS"/>
              </a:rPr>
              <a:t>Twitter_volume_UPS.csv</a:t>
            </a:r>
            <a:r>
              <a:rPr lang="en-US" altLang="en-US" sz="1800" dirty="0">
                <a:solidFill>
                  <a:schemeClr val="tx1"/>
                </a:solidFill>
              </a:rPr>
              <a:t> (</a:t>
            </a:r>
            <a:r>
              <a:rPr lang="en-US" altLang="en-US" sz="1800" dirty="0" err="1">
                <a:solidFill>
                  <a:schemeClr val="tx1"/>
                </a:solidFill>
              </a:rPr>
              <a:t>Variații</a:t>
            </a:r>
            <a:r>
              <a:rPr lang="en-US" altLang="en-US" sz="1800" dirty="0">
                <a:solidFill>
                  <a:schemeClr val="tx1"/>
                </a:solidFill>
              </a:rPr>
              <a:t> </a:t>
            </a:r>
            <a:r>
              <a:rPr lang="en-US" altLang="en-US" sz="1800" dirty="0" err="1">
                <a:solidFill>
                  <a:schemeClr val="tx1"/>
                </a:solidFill>
              </a:rPr>
              <a:t>mari</a:t>
            </a:r>
            <a:r>
              <a:rPr lang="en-US" altLang="en-US" sz="1800" dirty="0">
                <a:solidFill>
                  <a:schemeClr val="tx1"/>
                </a:solidFill>
              </a:rPr>
              <a:t> de </a:t>
            </a:r>
            <a:r>
              <a:rPr lang="en-US" altLang="en-US" sz="1800" dirty="0" err="1">
                <a:solidFill>
                  <a:schemeClr val="tx1"/>
                </a:solidFill>
              </a:rPr>
              <a:t>volum</a:t>
            </a:r>
            <a:r>
              <a:rPr lang="en-US" altLang="en-US" sz="1800" dirty="0">
                <a:solidFill>
                  <a:schemeClr val="tx1"/>
                </a:solidFill>
              </a:rPr>
              <a:t>).</a:t>
            </a:r>
            <a:endParaRPr lang="en-US" altLang="en-US" sz="18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</a:pPr>
            <a:r>
              <a:rPr lang="en-US" altLang="en-US" sz="1800" dirty="0">
                <a:solidFill>
                  <a:schemeClr val="tx1"/>
                </a:solidFill>
                <a:latin typeface="Arial Unicode MS"/>
              </a:rPr>
              <a:t>room_climate_location_A.csv</a:t>
            </a:r>
            <a:r>
              <a:rPr lang="en-US" altLang="en-US" sz="1800" dirty="0">
                <a:solidFill>
                  <a:schemeClr val="tx1"/>
                </a:solidFill>
              </a:rPr>
              <a:t> (Date </a:t>
            </a:r>
            <a:r>
              <a:rPr lang="en-US" altLang="en-US" sz="1800" dirty="0" err="1">
                <a:solidFill>
                  <a:schemeClr val="tx1"/>
                </a:solidFill>
              </a:rPr>
              <a:t>senzoriale</a:t>
            </a:r>
            <a:r>
              <a:rPr lang="en-US" altLang="en-US" sz="1800" dirty="0">
                <a:solidFill>
                  <a:schemeClr val="tx1"/>
                </a:solidFill>
              </a:rPr>
              <a:t> stabile).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</a:pPr>
            <a:endParaRPr lang="en-US" altLang="en-US" sz="18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sz="1800" dirty="0" err="1">
                <a:solidFill>
                  <a:schemeClr val="tx1"/>
                </a:solidFill>
                <a:latin typeface="Arial" panose="020B0604020202020204" pitchFamily="34" charset="0"/>
              </a:rPr>
              <a:t>Rezultate</a:t>
            </a: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 Twitter: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en-US" altLang="en-US" sz="18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============================================================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sz="1800" dirty="0" err="1">
                <a:solidFill>
                  <a:schemeClr val="tx1"/>
                </a:solidFill>
                <a:latin typeface="Arial" panose="020B0604020202020204" pitchFamily="34" charset="0"/>
              </a:rPr>
              <a:t>Metoda</a:t>
            </a: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                    | Timp (</a:t>
            </a:r>
            <a:r>
              <a:rPr lang="en-US" altLang="en-US" sz="1800" dirty="0" err="1">
                <a:solidFill>
                  <a:schemeClr val="tx1"/>
                </a:solidFill>
                <a:latin typeface="Arial" panose="020B0604020202020204" pitchFamily="34" charset="0"/>
              </a:rPr>
              <a:t>ms</a:t>
            </a: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)    | Marime Bin (Bytes)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------------------------------------------------------------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Standard                  | 45.8141      | 38515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sz="1800" dirty="0" err="1">
                <a:solidFill>
                  <a:schemeClr val="tx1"/>
                </a:solidFill>
                <a:latin typeface="Arial" panose="020B0604020202020204" pitchFamily="34" charset="0"/>
              </a:rPr>
              <a:t>Verificare</a:t>
            </a: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                | 45.6059      | 38,253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------------------------------------------------------------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REZULTAT: </a:t>
            </a:r>
            <a:r>
              <a:rPr lang="en-US" altLang="en-US" sz="1800" dirty="0" err="1">
                <a:solidFill>
                  <a:schemeClr val="tx1"/>
                </a:solidFill>
                <a:latin typeface="Arial" panose="020B0604020202020204" pitchFamily="34" charset="0"/>
              </a:rPr>
              <a:t>Metoda</a:t>
            </a: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  <a:r>
              <a:rPr lang="en-US" altLang="en-US" sz="1800" dirty="0" err="1">
                <a:solidFill>
                  <a:schemeClr val="tx1"/>
                </a:solidFill>
                <a:latin typeface="Arial" panose="020B0604020202020204" pitchFamily="34" charset="0"/>
              </a:rPr>
              <a:t>Verificare</a:t>
            </a: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  <a:r>
              <a:rPr lang="en-US" altLang="en-US" sz="1800" dirty="0" err="1">
                <a:solidFill>
                  <a:schemeClr val="tx1"/>
                </a:solidFill>
                <a:latin typeface="Arial" panose="020B0604020202020204" pitchFamily="34" charset="0"/>
              </a:rPr>
              <a:t>este</a:t>
            </a: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  <a:r>
              <a:rPr lang="en-US" altLang="en-US" sz="1800" dirty="0" err="1">
                <a:solidFill>
                  <a:schemeClr val="tx1"/>
                </a:solidFill>
                <a:latin typeface="Arial" panose="020B0604020202020204" pitchFamily="34" charset="0"/>
              </a:rPr>
              <a:t>mai</a:t>
            </a: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  <a:r>
              <a:rPr lang="en-US" altLang="en-US" sz="1800" dirty="0" err="1">
                <a:solidFill>
                  <a:schemeClr val="tx1"/>
                </a:solidFill>
                <a:latin typeface="Arial" panose="020B0604020202020204" pitchFamily="34" charset="0"/>
              </a:rPr>
              <a:t>eficienta</a:t>
            </a: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 cu 252 Bytes.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OPTIMIZARE: </a:t>
            </a:r>
            <a:r>
              <a:rPr lang="en-US" altLang="en-US" sz="1800" dirty="0" err="1">
                <a:solidFill>
                  <a:schemeClr val="tx1"/>
                </a:solidFill>
                <a:latin typeface="Arial" panose="020B0604020202020204" pitchFamily="34" charset="0"/>
              </a:rPr>
              <a:t>Fisierul</a:t>
            </a: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  <a:r>
              <a:rPr lang="en-US" altLang="en-US" sz="1800" dirty="0" err="1">
                <a:solidFill>
                  <a:schemeClr val="tx1"/>
                </a:solidFill>
                <a:latin typeface="Arial" panose="020B0604020202020204" pitchFamily="34" charset="0"/>
              </a:rPr>
              <a:t>este</a:t>
            </a: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 cu 0.61% </a:t>
            </a:r>
            <a:r>
              <a:rPr lang="en-US" altLang="en-US" sz="1800" dirty="0" err="1">
                <a:solidFill>
                  <a:schemeClr val="tx1"/>
                </a:solidFill>
                <a:latin typeface="Arial" panose="020B0604020202020204" pitchFamily="34" charset="0"/>
              </a:rPr>
              <a:t>mai</a:t>
            </a: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 mic </a:t>
            </a:r>
            <a:r>
              <a:rPr lang="en-US" altLang="en-US" sz="1800" dirty="0" err="1">
                <a:solidFill>
                  <a:schemeClr val="tx1"/>
                </a:solidFill>
                <a:latin typeface="Arial" panose="020B0604020202020204" pitchFamily="34" charset="0"/>
              </a:rPr>
              <a:t>decat</a:t>
            </a: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 cel Standard</a:t>
            </a:r>
          </a:p>
        </p:txBody>
      </p:sp>
    </p:spTree>
    <p:extLst>
      <p:ext uri="{BB962C8B-B14F-4D97-AF65-F5344CB8AC3E}">
        <p14:creationId xmlns:p14="http://schemas.microsoft.com/office/powerpoint/2010/main" val="22980156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2EF161-0E53-899E-2E2F-25FCF49838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Verificare</a:t>
            </a:r>
            <a:r>
              <a:rPr lang="en-US" dirty="0"/>
              <a:t> experiment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FAD9D30-2C70-CB42-082E-387DAD8504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13885" y="1891495"/>
            <a:ext cx="8024555" cy="39322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63600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42A2A5-497C-718B-19AD-9BA72E649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Concluzie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4F3C49-96A3-F032-F5BA-A0456D6F4D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 err="1"/>
              <a:t>Rezultatul</a:t>
            </a:r>
            <a:r>
              <a:rPr lang="en-US" dirty="0"/>
              <a:t> </a:t>
            </a:r>
            <a:r>
              <a:rPr lang="en-US" dirty="0" err="1"/>
              <a:t>experimentului</a:t>
            </a:r>
            <a:r>
              <a:rPr lang="en-US" dirty="0"/>
              <a:t> a </a:t>
            </a:r>
            <a:r>
              <a:rPr lang="en-US" dirty="0" err="1"/>
              <a:t>aratat</a:t>
            </a:r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9115270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108</TotalTime>
  <Words>468</Words>
  <Application>Microsoft Office PowerPoint</Application>
  <PresentationFormat>Widescreen</PresentationFormat>
  <Paragraphs>61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Arial</vt:lpstr>
      <vt:lpstr>Arial Unicode MS</vt:lpstr>
      <vt:lpstr>Calibri</vt:lpstr>
      <vt:lpstr>Calibri Light</vt:lpstr>
      <vt:lpstr>Google Sans Text</vt:lpstr>
      <vt:lpstr>Retrospect</vt:lpstr>
      <vt:lpstr>Eficientizarea Stocarii Datelor de Tip Serie Temporale utilizand Algoritmul Gorilla</vt:lpstr>
      <vt:lpstr>Introducere și Context</vt:lpstr>
      <vt:lpstr>Arhitectura standard a algoritmului Gorilla</vt:lpstr>
      <vt:lpstr>Procesul de Compresie XOR</vt:lpstr>
      <vt:lpstr>Optimizarea Propusă (Logica de 11 Biți)</vt:lpstr>
      <vt:lpstr>Structura Implementării (Software Stack)</vt:lpstr>
      <vt:lpstr>Experimente</vt:lpstr>
      <vt:lpstr>Verificare experiment</vt:lpstr>
      <vt:lpstr>Concluzie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DAVID-CRISTIAN MUSCALU</dc:creator>
  <cp:lastModifiedBy>DAVID-CRISTIAN MUSCALU</cp:lastModifiedBy>
  <cp:revision>1</cp:revision>
  <dcterms:created xsi:type="dcterms:W3CDTF">2026-02-05T02:18:16Z</dcterms:created>
  <dcterms:modified xsi:type="dcterms:W3CDTF">2026-02-05T04:06:57Z</dcterms:modified>
</cp:coreProperties>
</file>